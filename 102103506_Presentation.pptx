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2A2B2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2A2B2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2A2B2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2A2B2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2A2B2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2A2B2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FED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4171" y="990631"/>
            <a:ext cx="1351280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2A2B2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0" y="2586831"/>
            <a:ext cx="16256000" cy="6105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2A2B2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5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4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4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rive.google.com/file/d/1dCPtuP4qz8A8_1v0rYfAsT_1-XrRxZFG/view?usp=drive_link" TargetMode="External"/><Relationship Id="rId3" Type="http://schemas.openxmlformats.org/officeDocument/2006/relationships/image" Target="../media/image21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8680" y="4908257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48" y="1821904"/>
            <a:ext cx="7277734" cy="1726564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150" b="0">
                <a:latin typeface="Georgia"/>
                <a:cs typeface="Georgia"/>
              </a:rPr>
              <a:t>PSPCL</a:t>
            </a:r>
            <a:r>
              <a:rPr dirty="0" sz="11150" spc="-75" b="0">
                <a:latin typeface="Georgia"/>
                <a:cs typeface="Georgia"/>
              </a:rPr>
              <a:t> </a:t>
            </a:r>
            <a:r>
              <a:rPr dirty="0" sz="11150" spc="-459" b="0">
                <a:latin typeface="Georgia"/>
                <a:cs typeface="Georgia"/>
              </a:rPr>
              <a:t>ERP</a:t>
            </a:r>
            <a:endParaRPr sz="11150">
              <a:latin typeface="Georgia"/>
              <a:cs typeface="Georg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384149" y="7532206"/>
            <a:ext cx="6524625" cy="1727200"/>
          </a:xfrm>
          <a:prstGeom prst="rect">
            <a:avLst/>
          </a:prstGeom>
        </p:spPr>
        <p:txBody>
          <a:bodyPr wrap="square" lIns="0" tIns="2203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dirty="0" sz="3800" spc="-10" b="1">
                <a:solidFill>
                  <a:srgbClr val="2A2B2F"/>
                </a:solidFill>
                <a:latin typeface="Trebuchet MS"/>
                <a:cs typeface="Trebuchet MS"/>
              </a:rPr>
              <a:t>Project</a:t>
            </a:r>
            <a:r>
              <a:rPr dirty="0" sz="3800" spc="-305" b="1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3800" spc="125" b="1">
                <a:solidFill>
                  <a:srgbClr val="2A2B2F"/>
                </a:solidFill>
                <a:latin typeface="Trebuchet MS"/>
                <a:cs typeface="Trebuchet MS"/>
              </a:rPr>
              <a:t>Semester</a:t>
            </a:r>
            <a:r>
              <a:rPr dirty="0" sz="3800" spc="-305" b="1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3800" spc="200" b="1">
                <a:solidFill>
                  <a:srgbClr val="2A2B2F"/>
                </a:solidFill>
                <a:latin typeface="Trebuchet MS"/>
                <a:cs typeface="Trebuchet MS"/>
              </a:rPr>
              <a:t>2025</a:t>
            </a:r>
            <a:endParaRPr sz="3800">
              <a:latin typeface="Trebuchet MS"/>
              <a:cs typeface="Trebuchet MS"/>
            </a:endParaRPr>
          </a:p>
          <a:p>
            <a:pPr marL="12700" marR="5080">
              <a:lnSpc>
                <a:spcPct val="125000"/>
              </a:lnSpc>
              <a:spcBef>
                <a:spcPts val="300"/>
              </a:spcBef>
            </a:pPr>
            <a:r>
              <a:rPr dirty="0" sz="2300" spc="55">
                <a:solidFill>
                  <a:srgbClr val="2A2B2F"/>
                </a:solidFill>
                <a:latin typeface="Trebuchet MS"/>
                <a:cs typeface="Trebuchet MS"/>
              </a:rPr>
              <a:t>Computer</a:t>
            </a:r>
            <a:r>
              <a:rPr dirty="0" sz="2300" spc="-155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2300" spc="100">
                <a:solidFill>
                  <a:srgbClr val="2A2B2F"/>
                </a:solidFill>
                <a:latin typeface="Trebuchet MS"/>
                <a:cs typeface="Trebuchet MS"/>
              </a:rPr>
              <a:t>Science</a:t>
            </a:r>
            <a:r>
              <a:rPr dirty="0" sz="2300" spc="-155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2300" spc="70">
                <a:solidFill>
                  <a:srgbClr val="2A2B2F"/>
                </a:solidFill>
                <a:latin typeface="Trebuchet MS"/>
                <a:cs typeface="Trebuchet MS"/>
              </a:rPr>
              <a:t>and</a:t>
            </a:r>
            <a:r>
              <a:rPr dirty="0" sz="2300" spc="-155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2300" spc="75">
                <a:solidFill>
                  <a:srgbClr val="2A2B2F"/>
                </a:solidFill>
                <a:latin typeface="Trebuchet MS"/>
                <a:cs typeface="Trebuchet MS"/>
              </a:rPr>
              <a:t>Engineering</a:t>
            </a:r>
            <a:r>
              <a:rPr dirty="0" sz="2300" spc="-155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2300" spc="40">
                <a:solidFill>
                  <a:srgbClr val="2A2B2F"/>
                </a:solidFill>
                <a:latin typeface="Trebuchet MS"/>
                <a:cs typeface="Trebuchet MS"/>
              </a:rPr>
              <a:t>Department </a:t>
            </a:r>
            <a:r>
              <a:rPr dirty="0" sz="2300" spc="50">
                <a:solidFill>
                  <a:srgbClr val="2A2B2F"/>
                </a:solidFill>
                <a:latin typeface="Trebuchet MS"/>
                <a:cs typeface="Trebuchet MS"/>
              </a:rPr>
              <a:t>Thapar</a:t>
            </a:r>
            <a:r>
              <a:rPr dirty="0" sz="2300" spc="-95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2A2B2F"/>
                </a:solidFill>
                <a:latin typeface="Trebuchet MS"/>
                <a:cs typeface="Trebuchet MS"/>
              </a:rPr>
              <a:t>Institute</a:t>
            </a:r>
            <a:r>
              <a:rPr dirty="0" sz="2300" spc="-90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2300" spc="60">
                <a:solidFill>
                  <a:srgbClr val="2A2B2F"/>
                </a:solidFill>
                <a:latin typeface="Trebuchet MS"/>
                <a:cs typeface="Trebuchet MS"/>
              </a:rPr>
              <a:t>of</a:t>
            </a:r>
            <a:r>
              <a:rPr dirty="0" sz="2300" spc="-90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2300" spc="75">
                <a:solidFill>
                  <a:srgbClr val="2A2B2F"/>
                </a:solidFill>
                <a:latin typeface="Trebuchet MS"/>
                <a:cs typeface="Trebuchet MS"/>
              </a:rPr>
              <a:t>Engineering</a:t>
            </a:r>
            <a:r>
              <a:rPr dirty="0" sz="2300" spc="-90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2300" spc="70">
                <a:solidFill>
                  <a:srgbClr val="2A2B2F"/>
                </a:solidFill>
                <a:latin typeface="Trebuchet MS"/>
                <a:cs typeface="Trebuchet MS"/>
              </a:rPr>
              <a:t>and</a:t>
            </a:r>
            <a:r>
              <a:rPr dirty="0" sz="2300" spc="-90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2300" spc="60">
                <a:solidFill>
                  <a:srgbClr val="2A2B2F"/>
                </a:solidFill>
                <a:latin typeface="Trebuchet MS"/>
                <a:cs typeface="Trebuchet MS"/>
              </a:rPr>
              <a:t>Technology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12848" y="3107779"/>
            <a:ext cx="10422890" cy="39871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11150" spc="50">
                <a:solidFill>
                  <a:srgbClr val="2A2B2F"/>
                </a:solidFill>
                <a:latin typeface="Georgia"/>
                <a:cs typeface="Georgia"/>
              </a:rPr>
              <a:t>Implementation</a:t>
            </a:r>
            <a:endParaRPr sz="1115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6190"/>
              </a:spcBef>
            </a:pPr>
            <a:r>
              <a:rPr dirty="0" sz="2800" b="1">
                <a:solidFill>
                  <a:srgbClr val="2A2B2F"/>
                </a:solidFill>
                <a:latin typeface="Trebuchet MS"/>
                <a:cs typeface="Trebuchet MS"/>
              </a:rPr>
              <a:t>Organization:</a:t>
            </a:r>
            <a:r>
              <a:rPr dirty="0" sz="2800" spc="-155" b="1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2800" spc="275">
                <a:solidFill>
                  <a:srgbClr val="2A2B2F"/>
                </a:solidFill>
                <a:latin typeface="Trebuchet MS"/>
                <a:cs typeface="Trebuchet MS"/>
              </a:rPr>
              <a:t>AWC</a:t>
            </a:r>
            <a:r>
              <a:rPr dirty="0" sz="2800" spc="-150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2800" spc="110">
                <a:solidFill>
                  <a:srgbClr val="2A2B2F"/>
                </a:solidFill>
                <a:latin typeface="Trebuchet MS"/>
                <a:cs typeface="Trebuchet MS"/>
              </a:rPr>
              <a:t>Software</a:t>
            </a:r>
            <a:r>
              <a:rPr dirty="0" sz="2800" spc="-150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2800" spc="-45">
                <a:solidFill>
                  <a:srgbClr val="2A2B2F"/>
                </a:solidFill>
                <a:latin typeface="Trebuchet MS"/>
                <a:cs typeface="Trebuchet MS"/>
              </a:rPr>
              <a:t>Pvt.</a:t>
            </a:r>
            <a:r>
              <a:rPr dirty="0" sz="2800" spc="-155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2800" spc="-20">
                <a:solidFill>
                  <a:srgbClr val="2A2B2F"/>
                </a:solidFill>
                <a:latin typeface="Trebuchet MS"/>
                <a:cs typeface="Trebuchet MS"/>
              </a:rPr>
              <a:t>Ltd.</a:t>
            </a:r>
            <a:endParaRPr sz="28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765"/>
              </a:spcBef>
            </a:pPr>
            <a:r>
              <a:rPr dirty="0" sz="2800" spc="125" b="1">
                <a:solidFill>
                  <a:srgbClr val="2A2B2F"/>
                </a:solidFill>
                <a:latin typeface="Trebuchet MS"/>
                <a:cs typeface="Trebuchet MS"/>
              </a:rPr>
              <a:t>Start</a:t>
            </a:r>
            <a:r>
              <a:rPr dirty="0" sz="2800" spc="-190" b="1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2800" b="1">
                <a:solidFill>
                  <a:srgbClr val="2A2B2F"/>
                </a:solidFill>
                <a:latin typeface="Trebuchet MS"/>
                <a:cs typeface="Trebuchet MS"/>
              </a:rPr>
              <a:t>Date:</a:t>
            </a:r>
            <a:r>
              <a:rPr dirty="0" sz="2800" spc="-130" b="1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2800" spc="120">
                <a:solidFill>
                  <a:srgbClr val="2A2B2F"/>
                </a:solidFill>
                <a:latin typeface="Trebuchet MS"/>
                <a:cs typeface="Trebuchet MS"/>
              </a:rPr>
              <a:t>3</a:t>
            </a:r>
            <a:r>
              <a:rPr dirty="0" baseline="40404" sz="2475" spc="179">
                <a:solidFill>
                  <a:srgbClr val="2A2B2F"/>
                </a:solidFill>
                <a:latin typeface="Trebuchet MS"/>
                <a:cs typeface="Trebuchet MS"/>
              </a:rPr>
              <a:t>rd</a:t>
            </a:r>
            <a:r>
              <a:rPr dirty="0" baseline="40404" sz="2475" spc="322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2A2B2F"/>
                </a:solidFill>
                <a:latin typeface="Trebuchet MS"/>
                <a:cs typeface="Trebuchet MS"/>
              </a:rPr>
              <a:t>February,</a:t>
            </a:r>
            <a:r>
              <a:rPr dirty="0" sz="2800" spc="-125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2800" spc="220">
                <a:solidFill>
                  <a:srgbClr val="2A2B2F"/>
                </a:solidFill>
                <a:latin typeface="Trebuchet MS"/>
                <a:cs typeface="Trebuchet MS"/>
              </a:rPr>
              <a:t>2025</a:t>
            </a:r>
            <a:endParaRPr sz="28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765"/>
              </a:spcBef>
            </a:pPr>
            <a:r>
              <a:rPr dirty="0" sz="2800" spc="75" b="1">
                <a:solidFill>
                  <a:srgbClr val="2A2B2F"/>
                </a:solidFill>
                <a:latin typeface="Trebuchet MS"/>
                <a:cs typeface="Trebuchet MS"/>
              </a:rPr>
              <a:t>End</a:t>
            </a:r>
            <a:r>
              <a:rPr dirty="0" sz="2800" spc="-229" b="1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2800" b="1">
                <a:solidFill>
                  <a:srgbClr val="2A2B2F"/>
                </a:solidFill>
                <a:latin typeface="Trebuchet MS"/>
                <a:cs typeface="Trebuchet MS"/>
              </a:rPr>
              <a:t>Date:</a:t>
            </a:r>
            <a:r>
              <a:rPr dirty="0" sz="2800" spc="-170" b="1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2800" spc="150">
                <a:solidFill>
                  <a:srgbClr val="2A2B2F"/>
                </a:solidFill>
                <a:latin typeface="Trebuchet MS"/>
                <a:cs typeface="Trebuchet MS"/>
              </a:rPr>
              <a:t>30</a:t>
            </a:r>
            <a:r>
              <a:rPr dirty="0" baseline="40404" sz="2475" spc="225">
                <a:solidFill>
                  <a:srgbClr val="2A2B2F"/>
                </a:solidFill>
                <a:latin typeface="Trebuchet MS"/>
                <a:cs typeface="Trebuchet MS"/>
              </a:rPr>
              <a:t>th</a:t>
            </a:r>
            <a:r>
              <a:rPr dirty="0" baseline="40404" sz="2475" spc="262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2800" spc="-95">
                <a:solidFill>
                  <a:srgbClr val="2A2B2F"/>
                </a:solidFill>
                <a:latin typeface="Trebuchet MS"/>
                <a:cs typeface="Trebuchet MS"/>
              </a:rPr>
              <a:t>June,</a:t>
            </a:r>
            <a:r>
              <a:rPr dirty="0" sz="2800" spc="-170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2800" spc="220">
                <a:solidFill>
                  <a:srgbClr val="2A2B2F"/>
                </a:solidFill>
                <a:latin typeface="Trebuchet MS"/>
                <a:cs typeface="Trebuchet MS"/>
              </a:rPr>
              <a:t>2025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38259" y="7532206"/>
            <a:ext cx="4702810" cy="1727200"/>
          </a:xfrm>
          <a:prstGeom prst="rect">
            <a:avLst/>
          </a:prstGeom>
        </p:spPr>
        <p:txBody>
          <a:bodyPr wrap="square" lIns="0" tIns="2203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dirty="0" sz="3800" spc="-10" b="1">
                <a:solidFill>
                  <a:srgbClr val="2A2B2F"/>
                </a:solidFill>
                <a:latin typeface="Trebuchet MS"/>
                <a:cs typeface="Trebuchet MS"/>
              </a:rPr>
              <a:t>Mentor:</a:t>
            </a:r>
            <a:endParaRPr sz="3800">
              <a:latin typeface="Trebuchet MS"/>
              <a:cs typeface="Trebuchet MS"/>
            </a:endParaRPr>
          </a:p>
          <a:p>
            <a:pPr marL="12700" marR="5080">
              <a:lnSpc>
                <a:spcPct val="125000"/>
              </a:lnSpc>
              <a:spcBef>
                <a:spcPts val="300"/>
              </a:spcBef>
            </a:pPr>
            <a:r>
              <a:rPr dirty="0" sz="2300">
                <a:solidFill>
                  <a:srgbClr val="2A2B2F"/>
                </a:solidFill>
                <a:latin typeface="Trebuchet MS"/>
                <a:cs typeface="Trebuchet MS"/>
              </a:rPr>
              <a:t>Mr.</a:t>
            </a:r>
            <a:r>
              <a:rPr dirty="0" sz="2300" spc="-140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2300" spc="75">
                <a:solidFill>
                  <a:srgbClr val="2A2B2F"/>
                </a:solidFill>
                <a:latin typeface="Trebuchet MS"/>
                <a:cs typeface="Trebuchet MS"/>
              </a:rPr>
              <a:t>Rahul</a:t>
            </a:r>
            <a:r>
              <a:rPr dirty="0" sz="2300" spc="-135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2300" spc="80">
                <a:solidFill>
                  <a:srgbClr val="2A2B2F"/>
                </a:solidFill>
                <a:latin typeface="Trebuchet MS"/>
                <a:cs typeface="Trebuchet MS"/>
              </a:rPr>
              <a:t>Kumar</a:t>
            </a:r>
            <a:r>
              <a:rPr dirty="0" sz="2300" spc="-135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2300" spc="105">
                <a:solidFill>
                  <a:srgbClr val="2A2B2F"/>
                </a:solidFill>
                <a:latin typeface="Trebuchet MS"/>
                <a:cs typeface="Trebuchet MS"/>
              </a:rPr>
              <a:t>Kushwah </a:t>
            </a:r>
            <a:r>
              <a:rPr dirty="0" sz="2300" spc="95">
                <a:solidFill>
                  <a:srgbClr val="2A2B2F"/>
                </a:solidFill>
                <a:latin typeface="Trebuchet MS"/>
                <a:cs typeface="Trebuchet MS"/>
              </a:rPr>
              <a:t>(Business</a:t>
            </a:r>
            <a:r>
              <a:rPr dirty="0" sz="2300" spc="-150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2300" spc="50">
                <a:solidFill>
                  <a:srgbClr val="2A2B2F"/>
                </a:solidFill>
                <a:latin typeface="Trebuchet MS"/>
                <a:cs typeface="Trebuchet MS"/>
              </a:rPr>
              <a:t>Analyst,</a:t>
            </a:r>
            <a:r>
              <a:rPr dirty="0" sz="2300" spc="-145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2300" spc="220">
                <a:solidFill>
                  <a:srgbClr val="2A2B2F"/>
                </a:solidFill>
                <a:latin typeface="Trebuchet MS"/>
                <a:cs typeface="Trebuchet MS"/>
              </a:rPr>
              <a:t>AWC</a:t>
            </a:r>
            <a:r>
              <a:rPr dirty="0" sz="2300" spc="-145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2300" spc="55">
                <a:solidFill>
                  <a:srgbClr val="2A2B2F"/>
                </a:solidFill>
                <a:latin typeface="Trebuchet MS"/>
                <a:cs typeface="Trebuchet MS"/>
              </a:rPr>
              <a:t>Software)</a:t>
            </a:r>
            <a:endParaRPr sz="2300">
              <a:latin typeface="Trebuchet MS"/>
              <a:cs typeface="Trebuchet MS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24831" y="1028700"/>
            <a:ext cx="4533899" cy="19430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23932" y="872147"/>
            <a:ext cx="16334740" cy="932180"/>
            <a:chOff x="1023932" y="872147"/>
            <a:chExt cx="16334740" cy="932180"/>
          </a:xfrm>
        </p:grpSpPr>
        <p:sp>
          <p:nvSpPr>
            <p:cNvPr id="3" name="object 3" descr=""/>
            <p:cNvSpPr/>
            <p:nvPr/>
          </p:nvSpPr>
          <p:spPr>
            <a:xfrm>
              <a:off x="1028694" y="1760761"/>
              <a:ext cx="16230600" cy="38735"/>
            </a:xfrm>
            <a:custGeom>
              <a:avLst/>
              <a:gdLst/>
              <a:ahLst/>
              <a:cxnLst/>
              <a:rect l="l" t="t" r="r" b="b"/>
              <a:pathLst>
                <a:path w="16230600" h="38735">
                  <a:moveTo>
                    <a:pt x="0" y="38508"/>
                  </a:moveTo>
                  <a:lnTo>
                    <a:pt x="16230593" y="0"/>
                  </a:lnTo>
                </a:path>
              </a:pathLst>
            </a:custGeom>
            <a:ln w="9524">
              <a:solidFill>
                <a:srgbClr val="2A2B2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82176" y="872147"/>
              <a:ext cx="2076449" cy="88582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15"/>
              <a:t>ABOUT</a:t>
            </a:r>
            <a:r>
              <a:rPr dirty="0" spc="-360"/>
              <a:t> </a:t>
            </a:r>
            <a:r>
              <a:rPr dirty="0" spc="360"/>
              <a:t>AWC</a:t>
            </a:r>
            <a:r>
              <a:rPr dirty="0" spc="-360"/>
              <a:t> </a:t>
            </a:r>
            <a:r>
              <a:rPr dirty="0" spc="270"/>
              <a:t>SOFTWARE</a:t>
            </a: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42531" y="2559852"/>
            <a:ext cx="6353174" cy="635317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38274" y="2892424"/>
            <a:ext cx="85725" cy="8572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38274" y="3768724"/>
            <a:ext cx="85725" cy="8572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9073085" y="3498849"/>
            <a:ext cx="86296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120">
                <a:solidFill>
                  <a:srgbClr val="2A2B2F"/>
                </a:solidFill>
                <a:latin typeface="Times New Roman"/>
                <a:cs typeface="Times New Roman"/>
              </a:rPr>
              <a:t>Gold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663700" y="2622550"/>
            <a:ext cx="7206615" cy="1797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100">
                <a:solidFill>
                  <a:srgbClr val="2A2B2F"/>
                </a:solidFill>
                <a:latin typeface="Times New Roman"/>
                <a:cs typeface="Times New Roman"/>
              </a:rPr>
              <a:t>Trusted</a:t>
            </a:r>
            <a:r>
              <a:rPr dirty="0" sz="3000" spc="1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3000" spc="145">
                <a:solidFill>
                  <a:srgbClr val="2A2B2F"/>
                </a:solidFill>
                <a:latin typeface="Times New Roman"/>
                <a:cs typeface="Times New Roman"/>
              </a:rPr>
              <a:t>IT</a:t>
            </a:r>
            <a:r>
              <a:rPr dirty="0" sz="3000" spc="1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2A2B2F"/>
                </a:solidFill>
                <a:latin typeface="Times New Roman"/>
                <a:cs typeface="Times New Roman"/>
              </a:rPr>
              <a:t>services</a:t>
            </a:r>
            <a:r>
              <a:rPr dirty="0" sz="3000" spc="1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3000" spc="150">
                <a:solidFill>
                  <a:srgbClr val="2A2B2F"/>
                </a:solidFill>
                <a:latin typeface="Times New Roman"/>
                <a:cs typeface="Times New Roman"/>
              </a:rPr>
              <a:t>and</a:t>
            </a:r>
            <a:r>
              <a:rPr dirty="0" sz="3000" spc="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3000" spc="65">
                <a:solidFill>
                  <a:srgbClr val="2A2B2F"/>
                </a:solidFill>
                <a:latin typeface="Times New Roman"/>
                <a:cs typeface="Times New Roman"/>
              </a:rPr>
              <a:t>consulting</a:t>
            </a:r>
            <a:r>
              <a:rPr dirty="0" sz="3000" spc="1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3000" spc="45">
                <a:solidFill>
                  <a:srgbClr val="2A2B2F"/>
                </a:solidFill>
                <a:latin typeface="Times New Roman"/>
                <a:cs typeface="Times New Roman"/>
              </a:rPr>
              <a:t>firm.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3000">
              <a:latin typeface="Times New Roman"/>
              <a:cs typeface="Times New Roman"/>
            </a:endParaRPr>
          </a:p>
          <a:p>
            <a:pPr marL="12700" marR="5080">
              <a:lnSpc>
                <a:spcPts val="3450"/>
              </a:lnSpc>
              <a:tabLst>
                <a:tab pos="1665605" algn="l"/>
                <a:tab pos="2962275" algn="l"/>
                <a:tab pos="4028440" algn="l"/>
                <a:tab pos="5577840" algn="l"/>
              </a:tabLst>
            </a:pPr>
            <a:r>
              <a:rPr dirty="0" sz="3000" spc="40">
                <a:solidFill>
                  <a:srgbClr val="2A2B2F"/>
                </a:solidFill>
                <a:latin typeface="Times New Roman"/>
                <a:cs typeface="Times New Roman"/>
              </a:rPr>
              <a:t>Certified</a:t>
            </a:r>
            <a:r>
              <a:rPr dirty="0" sz="3000">
                <a:solidFill>
                  <a:srgbClr val="2A2B2F"/>
                </a:solidFill>
                <a:latin typeface="Times New Roman"/>
                <a:cs typeface="Times New Roman"/>
              </a:rPr>
              <a:t>	</a:t>
            </a:r>
            <a:r>
              <a:rPr dirty="0" sz="3000" spc="50">
                <a:solidFill>
                  <a:srgbClr val="2A2B2F"/>
                </a:solidFill>
                <a:latin typeface="Times New Roman"/>
                <a:cs typeface="Times New Roman"/>
              </a:rPr>
              <a:t>Oracle</a:t>
            </a:r>
            <a:r>
              <a:rPr dirty="0" sz="3000">
                <a:solidFill>
                  <a:srgbClr val="2A2B2F"/>
                </a:solidFill>
                <a:latin typeface="Times New Roman"/>
                <a:cs typeface="Times New Roman"/>
              </a:rPr>
              <a:t>	</a:t>
            </a:r>
            <a:r>
              <a:rPr dirty="0" sz="3000" spc="120">
                <a:solidFill>
                  <a:srgbClr val="2A2B2F"/>
                </a:solidFill>
                <a:latin typeface="Times New Roman"/>
                <a:cs typeface="Times New Roman"/>
              </a:rPr>
              <a:t>Gold</a:t>
            </a:r>
            <a:r>
              <a:rPr dirty="0" sz="3000">
                <a:solidFill>
                  <a:srgbClr val="2A2B2F"/>
                </a:solidFill>
                <a:latin typeface="Times New Roman"/>
                <a:cs typeface="Times New Roman"/>
              </a:rPr>
              <a:t>	</a:t>
            </a:r>
            <a:r>
              <a:rPr dirty="0" sz="3000" spc="105">
                <a:solidFill>
                  <a:srgbClr val="2A2B2F"/>
                </a:solidFill>
                <a:latin typeface="Times New Roman"/>
                <a:cs typeface="Times New Roman"/>
              </a:rPr>
              <a:t>Partner,</a:t>
            </a:r>
            <a:r>
              <a:rPr dirty="0" sz="3000">
                <a:solidFill>
                  <a:srgbClr val="2A2B2F"/>
                </a:solidFill>
                <a:latin typeface="Times New Roman"/>
                <a:cs typeface="Times New Roman"/>
              </a:rPr>
              <a:t>	</a:t>
            </a:r>
            <a:r>
              <a:rPr dirty="0" sz="3000" spc="80">
                <a:solidFill>
                  <a:srgbClr val="2A2B2F"/>
                </a:solidFill>
                <a:latin typeface="Times New Roman"/>
                <a:cs typeface="Times New Roman"/>
              </a:rPr>
              <a:t>Microsoft </a:t>
            </a:r>
            <a:r>
              <a:rPr dirty="0" sz="3000" spc="114">
                <a:solidFill>
                  <a:srgbClr val="2A2B2F"/>
                </a:solidFill>
                <a:latin typeface="Times New Roman"/>
                <a:cs typeface="Times New Roman"/>
              </a:rPr>
              <a:t>Partner,</a:t>
            </a:r>
            <a:r>
              <a:rPr dirty="0" sz="3000" spc="11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3000" spc="150">
                <a:solidFill>
                  <a:srgbClr val="2A2B2F"/>
                </a:solidFill>
                <a:latin typeface="Times New Roman"/>
                <a:cs typeface="Times New Roman"/>
              </a:rPr>
              <a:t>and</a:t>
            </a:r>
            <a:r>
              <a:rPr dirty="0" sz="3000" spc="114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2A2B2F"/>
                </a:solidFill>
                <a:latin typeface="Times New Roman"/>
                <a:cs typeface="Times New Roman"/>
              </a:rPr>
              <a:t>Salesforce</a:t>
            </a:r>
            <a:r>
              <a:rPr dirty="0" sz="3000" spc="114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3000" spc="105">
                <a:solidFill>
                  <a:srgbClr val="2A2B2F"/>
                </a:solidFill>
                <a:latin typeface="Times New Roman"/>
                <a:cs typeface="Times New Roman"/>
              </a:rPr>
              <a:t>Partner.</a:t>
            </a:r>
            <a:endParaRPr sz="3000">
              <a:latin typeface="Times New Roman"/>
              <a:cs typeface="Times New Roman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38274" y="5083174"/>
            <a:ext cx="85725" cy="8572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1663700" y="4813299"/>
            <a:ext cx="8272780" cy="92075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 marR="5080">
              <a:lnSpc>
                <a:spcPts val="3450"/>
              </a:lnSpc>
              <a:spcBef>
                <a:spcPts val="340"/>
              </a:spcBef>
              <a:tabLst>
                <a:tab pos="2005964" algn="l"/>
                <a:tab pos="2514600" algn="l"/>
                <a:tab pos="3590925" algn="l"/>
                <a:tab pos="4834255" algn="l"/>
                <a:tab pos="5930265" algn="l"/>
              </a:tabLst>
            </a:pPr>
            <a:r>
              <a:rPr dirty="0" sz="3000" spc="-10">
                <a:solidFill>
                  <a:srgbClr val="2A2B2F"/>
                </a:solidFill>
                <a:latin typeface="Times New Roman"/>
                <a:cs typeface="Times New Roman"/>
              </a:rPr>
              <a:t>Specialized</a:t>
            </a:r>
            <a:r>
              <a:rPr dirty="0" sz="3000">
                <a:solidFill>
                  <a:srgbClr val="2A2B2F"/>
                </a:solidFill>
                <a:latin typeface="Times New Roman"/>
                <a:cs typeface="Times New Roman"/>
              </a:rPr>
              <a:t>	</a:t>
            </a:r>
            <a:r>
              <a:rPr dirty="0" sz="3000" spc="35">
                <a:solidFill>
                  <a:srgbClr val="2A2B2F"/>
                </a:solidFill>
                <a:latin typeface="Times New Roman"/>
                <a:cs typeface="Times New Roman"/>
              </a:rPr>
              <a:t>in</a:t>
            </a:r>
            <a:r>
              <a:rPr dirty="0" sz="3000">
                <a:solidFill>
                  <a:srgbClr val="2A2B2F"/>
                </a:solidFill>
                <a:latin typeface="Times New Roman"/>
                <a:cs typeface="Times New Roman"/>
              </a:rPr>
              <a:t>	</a:t>
            </a:r>
            <a:r>
              <a:rPr dirty="0" sz="3000" spc="140">
                <a:solidFill>
                  <a:srgbClr val="2A2B2F"/>
                </a:solidFill>
                <a:latin typeface="Times New Roman"/>
                <a:cs typeface="Times New Roman"/>
              </a:rPr>
              <a:t>ERP,</a:t>
            </a:r>
            <a:r>
              <a:rPr dirty="0" sz="3000">
                <a:solidFill>
                  <a:srgbClr val="2A2B2F"/>
                </a:solidFill>
                <a:latin typeface="Times New Roman"/>
                <a:cs typeface="Times New Roman"/>
              </a:rPr>
              <a:t>	</a:t>
            </a:r>
            <a:r>
              <a:rPr dirty="0" sz="3000" spc="175">
                <a:solidFill>
                  <a:srgbClr val="2A2B2F"/>
                </a:solidFill>
                <a:latin typeface="Times New Roman"/>
                <a:cs typeface="Times New Roman"/>
              </a:rPr>
              <a:t>CRM,</a:t>
            </a:r>
            <a:r>
              <a:rPr dirty="0" sz="3000">
                <a:solidFill>
                  <a:srgbClr val="2A2B2F"/>
                </a:solidFill>
                <a:latin typeface="Times New Roman"/>
                <a:cs typeface="Times New Roman"/>
              </a:rPr>
              <a:t>	</a:t>
            </a:r>
            <a:r>
              <a:rPr dirty="0" sz="3000" spc="65">
                <a:solidFill>
                  <a:srgbClr val="2A2B2F"/>
                </a:solidFill>
                <a:latin typeface="Times New Roman"/>
                <a:cs typeface="Times New Roman"/>
              </a:rPr>
              <a:t>cloud</a:t>
            </a:r>
            <a:r>
              <a:rPr dirty="0" sz="3000">
                <a:solidFill>
                  <a:srgbClr val="2A2B2F"/>
                </a:solidFill>
                <a:latin typeface="Times New Roman"/>
                <a:cs typeface="Times New Roman"/>
              </a:rPr>
              <a:t>	</a:t>
            </a:r>
            <a:r>
              <a:rPr dirty="0" sz="3000" spc="75">
                <a:solidFill>
                  <a:srgbClr val="2A2B2F"/>
                </a:solidFill>
                <a:latin typeface="Times New Roman"/>
                <a:cs typeface="Times New Roman"/>
              </a:rPr>
              <a:t>infrastructure, </a:t>
            </a:r>
            <a:r>
              <a:rPr dirty="0" sz="3000" spc="150">
                <a:solidFill>
                  <a:srgbClr val="2A2B2F"/>
                </a:solidFill>
                <a:latin typeface="Times New Roman"/>
                <a:cs typeface="Times New Roman"/>
              </a:rPr>
              <a:t>and</a:t>
            </a:r>
            <a:r>
              <a:rPr dirty="0" sz="3000" spc="8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2A2B2F"/>
                </a:solidFill>
                <a:latin typeface="Times New Roman"/>
                <a:cs typeface="Times New Roman"/>
              </a:rPr>
              <a:t>system</a:t>
            </a:r>
            <a:r>
              <a:rPr dirty="0" sz="3000" spc="8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3000" spc="90">
                <a:solidFill>
                  <a:srgbClr val="2A2B2F"/>
                </a:solidFill>
                <a:latin typeface="Times New Roman"/>
                <a:cs typeface="Times New Roman"/>
              </a:rPr>
              <a:t>integration</a:t>
            </a:r>
            <a:r>
              <a:rPr dirty="0" sz="3000" spc="8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3000" spc="60">
                <a:solidFill>
                  <a:srgbClr val="2A2B2F"/>
                </a:solidFill>
                <a:latin typeface="Times New Roman"/>
                <a:cs typeface="Times New Roman"/>
              </a:rPr>
              <a:t>solutions.</a:t>
            </a:r>
            <a:endParaRPr sz="3000">
              <a:latin typeface="Times New Roman"/>
              <a:cs typeface="Times New Roman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38274" y="6264274"/>
            <a:ext cx="85725" cy="85724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1663700" y="5994399"/>
            <a:ext cx="631888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92960" algn="l"/>
                <a:tab pos="4713605" algn="l"/>
              </a:tabLst>
            </a:pPr>
            <a:r>
              <a:rPr dirty="0" sz="3000" spc="80">
                <a:solidFill>
                  <a:srgbClr val="2A2B2F"/>
                </a:solidFill>
                <a:latin typeface="Times New Roman"/>
                <a:cs typeface="Times New Roman"/>
              </a:rPr>
              <a:t>Proven</a:t>
            </a:r>
            <a:r>
              <a:rPr dirty="0" sz="3000">
                <a:solidFill>
                  <a:srgbClr val="2A2B2F"/>
                </a:solidFill>
                <a:latin typeface="Times New Roman"/>
                <a:cs typeface="Times New Roman"/>
              </a:rPr>
              <a:t>	</a:t>
            </a:r>
            <a:r>
              <a:rPr dirty="0" sz="3000" spc="-10">
                <a:solidFill>
                  <a:srgbClr val="2A2B2F"/>
                </a:solidFill>
                <a:latin typeface="Times New Roman"/>
                <a:cs typeface="Times New Roman"/>
              </a:rPr>
              <a:t>experience</a:t>
            </a:r>
            <a:r>
              <a:rPr dirty="0" sz="3000">
                <a:solidFill>
                  <a:srgbClr val="2A2B2F"/>
                </a:solidFill>
                <a:latin typeface="Times New Roman"/>
                <a:cs typeface="Times New Roman"/>
              </a:rPr>
              <a:t>	</a:t>
            </a:r>
            <a:r>
              <a:rPr dirty="0" sz="3000" spc="-10">
                <a:solidFill>
                  <a:srgbClr val="2A2B2F"/>
                </a:solidFill>
                <a:latin typeface="Times New Roman"/>
                <a:cs typeface="Times New Roman"/>
              </a:rPr>
              <a:t>delivering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663700" y="6432549"/>
            <a:ext cx="699071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89555" algn="l"/>
                <a:tab pos="3591560" algn="l"/>
                <a:tab pos="4913630" algn="l"/>
                <a:tab pos="5842000" algn="l"/>
              </a:tabLst>
            </a:pPr>
            <a:r>
              <a:rPr dirty="0" sz="3000" spc="105">
                <a:solidFill>
                  <a:srgbClr val="2A2B2F"/>
                </a:solidFill>
                <a:latin typeface="Times New Roman"/>
                <a:cs typeface="Times New Roman"/>
              </a:rPr>
              <a:t>transformation</a:t>
            </a:r>
            <a:r>
              <a:rPr dirty="0" sz="3000">
                <a:solidFill>
                  <a:srgbClr val="2A2B2F"/>
                </a:solidFill>
                <a:latin typeface="Times New Roman"/>
                <a:cs typeface="Times New Roman"/>
              </a:rPr>
              <a:t>	</a:t>
            </a:r>
            <a:r>
              <a:rPr dirty="0" sz="3000" spc="70">
                <a:solidFill>
                  <a:srgbClr val="2A2B2F"/>
                </a:solidFill>
                <a:latin typeface="Times New Roman"/>
                <a:cs typeface="Times New Roman"/>
              </a:rPr>
              <a:t>for</a:t>
            </a:r>
            <a:r>
              <a:rPr dirty="0" sz="3000">
                <a:solidFill>
                  <a:srgbClr val="2A2B2F"/>
                </a:solidFill>
                <a:latin typeface="Times New Roman"/>
                <a:cs typeface="Times New Roman"/>
              </a:rPr>
              <a:t>	</a:t>
            </a:r>
            <a:r>
              <a:rPr dirty="0" sz="3000" spc="50">
                <a:solidFill>
                  <a:srgbClr val="2A2B2F"/>
                </a:solidFill>
                <a:latin typeface="Times New Roman"/>
                <a:cs typeface="Times New Roman"/>
              </a:rPr>
              <a:t>public</a:t>
            </a:r>
            <a:r>
              <a:rPr dirty="0" sz="3000">
                <a:solidFill>
                  <a:srgbClr val="2A2B2F"/>
                </a:solidFill>
                <a:latin typeface="Times New Roman"/>
                <a:cs typeface="Times New Roman"/>
              </a:rPr>
              <a:t>	</a:t>
            </a:r>
            <a:r>
              <a:rPr dirty="0" sz="3000" spc="125">
                <a:solidFill>
                  <a:srgbClr val="2A2B2F"/>
                </a:solidFill>
                <a:latin typeface="Times New Roman"/>
                <a:cs typeface="Times New Roman"/>
              </a:rPr>
              <a:t>and</a:t>
            </a:r>
            <a:r>
              <a:rPr dirty="0" sz="3000">
                <a:solidFill>
                  <a:srgbClr val="2A2B2F"/>
                </a:solidFill>
                <a:latin typeface="Times New Roman"/>
                <a:cs typeface="Times New Roman"/>
              </a:rPr>
              <a:t>	</a:t>
            </a:r>
            <a:r>
              <a:rPr dirty="0" sz="3000" spc="65">
                <a:solidFill>
                  <a:srgbClr val="2A2B2F"/>
                </a:solidFill>
                <a:latin typeface="Times New Roman"/>
                <a:cs typeface="Times New Roman"/>
              </a:rPr>
              <a:t>private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882739" y="5994399"/>
            <a:ext cx="1053465" cy="92075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76200" marR="5080" indent="-64135">
              <a:lnSpc>
                <a:spcPts val="3450"/>
              </a:lnSpc>
              <a:spcBef>
                <a:spcPts val="340"/>
              </a:spcBef>
            </a:pPr>
            <a:r>
              <a:rPr dirty="0" sz="3000" spc="40">
                <a:solidFill>
                  <a:srgbClr val="2A2B2F"/>
                </a:solidFill>
                <a:latin typeface="Times New Roman"/>
                <a:cs typeface="Times New Roman"/>
              </a:rPr>
              <a:t>digital </a:t>
            </a:r>
            <a:r>
              <a:rPr dirty="0" sz="3000" spc="55">
                <a:solidFill>
                  <a:srgbClr val="2A2B2F"/>
                </a:solidFill>
                <a:latin typeface="Times New Roman"/>
                <a:cs typeface="Times New Roman"/>
              </a:rPr>
              <a:t>sector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663700" y="6870700"/>
            <a:ext cx="415353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solidFill>
                  <a:srgbClr val="2A2B2F"/>
                </a:solidFill>
                <a:latin typeface="Times New Roman"/>
                <a:cs typeface="Times New Roman"/>
              </a:rPr>
              <a:t>clients,</a:t>
            </a:r>
            <a:r>
              <a:rPr dirty="0" sz="3000" spc="1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3000" spc="55">
                <a:solidFill>
                  <a:srgbClr val="2A2B2F"/>
                </a:solidFill>
                <a:latin typeface="Times New Roman"/>
                <a:cs typeface="Times New Roman"/>
              </a:rPr>
              <a:t>including</a:t>
            </a:r>
            <a:r>
              <a:rPr dirty="0" sz="3000" spc="13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3000" spc="85">
                <a:solidFill>
                  <a:srgbClr val="2A2B2F"/>
                </a:solidFill>
                <a:latin typeface="Times New Roman"/>
                <a:cs typeface="Times New Roman"/>
              </a:rPr>
              <a:t>PSPCL.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8694" y="1760761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30"/>
              <a:t>PROJECT</a:t>
            </a:r>
            <a:r>
              <a:rPr dirty="0" spc="-340"/>
              <a:t> </a:t>
            </a:r>
            <a:r>
              <a:rPr dirty="0" spc="310"/>
              <a:t>BACKGROUND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024" y="3675126"/>
            <a:ext cx="66675" cy="6667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024" y="4494276"/>
            <a:ext cx="66675" cy="666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024" y="6084950"/>
            <a:ext cx="66675" cy="6667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024" y="6494525"/>
            <a:ext cx="66675" cy="6667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024" y="8113776"/>
            <a:ext cx="66675" cy="6667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024" y="8523350"/>
            <a:ext cx="66675" cy="66674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150" spc="2425" b="0">
                <a:latin typeface="Webdings"/>
                <a:cs typeface="Webdings"/>
              </a:rPr>
              <a:t>📌</a:t>
            </a:r>
            <a:r>
              <a:rPr dirty="0" sz="3150" spc="-90" b="0">
                <a:latin typeface="Times New Roman"/>
                <a:cs typeface="Times New Roman"/>
              </a:rPr>
              <a:t> </a:t>
            </a:r>
            <a:r>
              <a:rPr dirty="0" spc="-10"/>
              <a:t>Context</a:t>
            </a:r>
            <a:r>
              <a:rPr dirty="0" spc="-10" b="0">
                <a:latin typeface="Times New Roman"/>
                <a:cs typeface="Times New Roman"/>
              </a:rPr>
              <a:t>:</a:t>
            </a:r>
            <a:endParaRPr sz="3150">
              <a:latin typeface="Times New Roman"/>
              <a:cs typeface="Times New Roman"/>
            </a:endParaRPr>
          </a:p>
          <a:p>
            <a:pPr marL="530225" marR="5080">
              <a:lnSpc>
                <a:spcPct val="112000"/>
              </a:lnSpc>
              <a:spcBef>
                <a:spcPts val="2695"/>
              </a:spcBef>
            </a:pPr>
            <a:r>
              <a:rPr dirty="0" sz="2400" spc="85" b="0">
                <a:latin typeface="Times New Roman"/>
                <a:cs typeface="Times New Roman"/>
              </a:rPr>
              <a:t>PSPCL</a:t>
            </a:r>
            <a:r>
              <a:rPr dirty="0" sz="2400" spc="185" b="0">
                <a:latin typeface="Times New Roman"/>
                <a:cs typeface="Times New Roman"/>
              </a:rPr>
              <a:t> </a:t>
            </a:r>
            <a:r>
              <a:rPr dirty="0" sz="2400" spc="60" b="0">
                <a:latin typeface="Times New Roman"/>
                <a:cs typeface="Times New Roman"/>
              </a:rPr>
              <a:t>manages</a:t>
            </a:r>
            <a:r>
              <a:rPr dirty="0" sz="2400" spc="190" b="0">
                <a:latin typeface="Times New Roman"/>
                <a:cs typeface="Times New Roman"/>
              </a:rPr>
              <a:t> </a:t>
            </a:r>
            <a:r>
              <a:rPr dirty="0" sz="2400" spc="80" b="0">
                <a:latin typeface="Times New Roman"/>
                <a:cs typeface="Times New Roman"/>
              </a:rPr>
              <a:t>procurement</a:t>
            </a:r>
            <a:r>
              <a:rPr dirty="0" sz="2400" spc="190" b="0">
                <a:latin typeface="Times New Roman"/>
                <a:cs typeface="Times New Roman"/>
              </a:rPr>
              <a:t> </a:t>
            </a:r>
            <a:r>
              <a:rPr dirty="0" sz="2400" spc="120" b="0">
                <a:latin typeface="Times New Roman"/>
                <a:cs typeface="Times New Roman"/>
              </a:rPr>
              <a:t>and</a:t>
            </a:r>
            <a:r>
              <a:rPr dirty="0" sz="2400" spc="190" b="0">
                <a:latin typeface="Times New Roman"/>
                <a:cs typeface="Times New Roman"/>
              </a:rPr>
              <a:t> </a:t>
            </a:r>
            <a:r>
              <a:rPr dirty="0" sz="2400" spc="95" b="0">
                <a:latin typeface="Times New Roman"/>
                <a:cs typeface="Times New Roman"/>
              </a:rPr>
              <a:t>return</a:t>
            </a:r>
            <a:r>
              <a:rPr dirty="0" sz="2400" spc="190" b="0">
                <a:latin typeface="Times New Roman"/>
                <a:cs typeface="Times New Roman"/>
              </a:rPr>
              <a:t> </a:t>
            </a:r>
            <a:r>
              <a:rPr dirty="0" sz="2400" spc="60" b="0">
                <a:latin typeface="Times New Roman"/>
                <a:cs typeface="Times New Roman"/>
              </a:rPr>
              <a:t>of</a:t>
            </a:r>
            <a:r>
              <a:rPr dirty="0" sz="2400" spc="190" b="0">
                <a:latin typeface="Times New Roman"/>
                <a:cs typeface="Times New Roman"/>
              </a:rPr>
              <a:t> </a:t>
            </a:r>
            <a:r>
              <a:rPr dirty="0" sz="2400" spc="60" b="0">
                <a:latin typeface="Times New Roman"/>
                <a:cs typeface="Times New Roman"/>
              </a:rPr>
              <a:t>materials</a:t>
            </a:r>
            <a:r>
              <a:rPr dirty="0" sz="2400" spc="190" b="0">
                <a:latin typeface="Times New Roman"/>
                <a:cs typeface="Times New Roman"/>
              </a:rPr>
              <a:t> </a:t>
            </a:r>
            <a:r>
              <a:rPr dirty="0" sz="2400" b="0">
                <a:latin typeface="Times New Roman"/>
                <a:cs typeface="Times New Roman"/>
              </a:rPr>
              <a:t>using</a:t>
            </a:r>
            <a:r>
              <a:rPr dirty="0" sz="2400" spc="190" b="0">
                <a:latin typeface="Times New Roman"/>
                <a:cs typeface="Times New Roman"/>
              </a:rPr>
              <a:t> </a:t>
            </a:r>
            <a:r>
              <a:rPr dirty="0" sz="2400" b="0">
                <a:latin typeface="Times New Roman"/>
                <a:cs typeface="Times New Roman"/>
              </a:rPr>
              <a:t>Oracle</a:t>
            </a:r>
            <a:r>
              <a:rPr dirty="0" sz="2400" spc="185" b="0">
                <a:latin typeface="Times New Roman"/>
                <a:cs typeface="Times New Roman"/>
              </a:rPr>
              <a:t> </a:t>
            </a:r>
            <a:r>
              <a:rPr dirty="0" sz="2400" spc="155" b="0">
                <a:latin typeface="Times New Roman"/>
                <a:cs typeface="Times New Roman"/>
              </a:rPr>
              <a:t>ERP</a:t>
            </a:r>
            <a:r>
              <a:rPr dirty="0" sz="2400" spc="190" b="0">
                <a:latin typeface="Times New Roman"/>
                <a:cs typeface="Times New Roman"/>
              </a:rPr>
              <a:t> </a:t>
            </a:r>
            <a:r>
              <a:rPr dirty="0" sz="2400" spc="55" b="0">
                <a:latin typeface="Times New Roman"/>
                <a:cs typeface="Times New Roman"/>
              </a:rPr>
              <a:t>modules</a:t>
            </a:r>
            <a:r>
              <a:rPr dirty="0" sz="2400" spc="190" b="0">
                <a:latin typeface="Times New Roman"/>
                <a:cs typeface="Times New Roman"/>
              </a:rPr>
              <a:t> </a:t>
            </a:r>
            <a:r>
              <a:rPr dirty="0" sz="2400" b="0">
                <a:latin typeface="Times New Roman"/>
                <a:cs typeface="Times New Roman"/>
              </a:rPr>
              <a:t>like</a:t>
            </a:r>
            <a:r>
              <a:rPr dirty="0" sz="2400" spc="190" b="0">
                <a:latin typeface="Times New Roman"/>
                <a:cs typeface="Times New Roman"/>
              </a:rPr>
              <a:t> </a:t>
            </a:r>
            <a:r>
              <a:rPr dirty="0" sz="2400" spc="65" b="0">
                <a:latin typeface="Times New Roman"/>
                <a:cs typeface="Times New Roman"/>
              </a:rPr>
              <a:t>Store</a:t>
            </a:r>
            <a:r>
              <a:rPr dirty="0" sz="2400" spc="190" b="0">
                <a:latin typeface="Times New Roman"/>
                <a:cs typeface="Times New Roman"/>
              </a:rPr>
              <a:t> </a:t>
            </a:r>
            <a:r>
              <a:rPr dirty="0" sz="2400" spc="70" b="0">
                <a:latin typeface="Times New Roman"/>
                <a:cs typeface="Times New Roman"/>
              </a:rPr>
              <a:t>Requisition</a:t>
            </a:r>
            <a:r>
              <a:rPr dirty="0" sz="2400" spc="190" b="0">
                <a:latin typeface="Times New Roman"/>
                <a:cs typeface="Times New Roman"/>
              </a:rPr>
              <a:t> </a:t>
            </a:r>
            <a:r>
              <a:rPr dirty="0" sz="2400" spc="50" b="0">
                <a:latin typeface="Times New Roman"/>
                <a:cs typeface="Times New Roman"/>
              </a:rPr>
              <a:t>(SR)</a:t>
            </a:r>
            <a:r>
              <a:rPr dirty="0" sz="2400" spc="190" b="0">
                <a:latin typeface="Times New Roman"/>
                <a:cs typeface="Times New Roman"/>
              </a:rPr>
              <a:t> </a:t>
            </a:r>
            <a:r>
              <a:rPr dirty="0" sz="2400" spc="120" b="0">
                <a:latin typeface="Times New Roman"/>
                <a:cs typeface="Times New Roman"/>
              </a:rPr>
              <a:t>and</a:t>
            </a:r>
            <a:r>
              <a:rPr dirty="0" sz="2400" spc="190" b="0">
                <a:latin typeface="Times New Roman"/>
                <a:cs typeface="Times New Roman"/>
              </a:rPr>
              <a:t> </a:t>
            </a:r>
            <a:r>
              <a:rPr dirty="0" sz="2400" spc="55" b="0">
                <a:latin typeface="Times New Roman"/>
                <a:cs typeface="Times New Roman"/>
              </a:rPr>
              <a:t>Store </a:t>
            </a:r>
            <a:r>
              <a:rPr dirty="0" sz="2400" spc="114" b="0">
                <a:latin typeface="Times New Roman"/>
                <a:cs typeface="Times New Roman"/>
              </a:rPr>
              <a:t>Return</a:t>
            </a:r>
            <a:r>
              <a:rPr dirty="0" sz="2400" spc="20" b="0">
                <a:latin typeface="Times New Roman"/>
                <a:cs typeface="Times New Roman"/>
              </a:rPr>
              <a:t> </a:t>
            </a:r>
            <a:r>
              <a:rPr dirty="0" sz="2400" spc="120" b="0">
                <a:latin typeface="Times New Roman"/>
                <a:cs typeface="Times New Roman"/>
              </a:rPr>
              <a:t>Warrant</a:t>
            </a:r>
            <a:r>
              <a:rPr dirty="0" sz="2400" spc="20" b="0">
                <a:latin typeface="Times New Roman"/>
                <a:cs typeface="Times New Roman"/>
              </a:rPr>
              <a:t> </a:t>
            </a:r>
            <a:r>
              <a:rPr dirty="0" sz="2400" spc="50" b="0">
                <a:latin typeface="Times New Roman"/>
                <a:cs typeface="Times New Roman"/>
              </a:rPr>
              <a:t>(SRW).</a:t>
            </a:r>
            <a:endParaRPr sz="2400">
              <a:latin typeface="Times New Roman"/>
              <a:cs typeface="Times New Roman"/>
            </a:endParaRPr>
          </a:p>
          <a:p>
            <a:pPr marL="530225">
              <a:lnSpc>
                <a:spcPct val="100000"/>
              </a:lnSpc>
              <a:spcBef>
                <a:spcPts val="345"/>
              </a:spcBef>
            </a:pPr>
            <a:r>
              <a:rPr dirty="0" sz="2400" spc="114" b="0">
                <a:latin typeface="Times New Roman"/>
                <a:cs typeface="Times New Roman"/>
              </a:rPr>
              <a:t>Manual</a:t>
            </a:r>
            <a:r>
              <a:rPr dirty="0" sz="2400" spc="40" b="0">
                <a:latin typeface="Times New Roman"/>
                <a:cs typeface="Times New Roman"/>
              </a:rPr>
              <a:t> </a:t>
            </a:r>
            <a:r>
              <a:rPr dirty="0" sz="2400" b="0">
                <a:latin typeface="Times New Roman"/>
                <a:cs typeface="Times New Roman"/>
              </a:rPr>
              <a:t>issue</a:t>
            </a:r>
            <a:r>
              <a:rPr dirty="0" sz="2400" spc="45" b="0">
                <a:latin typeface="Times New Roman"/>
                <a:cs typeface="Times New Roman"/>
              </a:rPr>
              <a:t> </a:t>
            </a:r>
            <a:r>
              <a:rPr dirty="0" sz="2400" spc="70" b="0">
                <a:latin typeface="Times New Roman"/>
                <a:cs typeface="Times New Roman"/>
              </a:rPr>
              <a:t>tracking</a:t>
            </a:r>
            <a:r>
              <a:rPr dirty="0" sz="2400" spc="45" b="0">
                <a:latin typeface="Times New Roman"/>
                <a:cs typeface="Times New Roman"/>
              </a:rPr>
              <a:t> </a:t>
            </a:r>
            <a:r>
              <a:rPr dirty="0" sz="2400" spc="60" b="0">
                <a:latin typeface="Times New Roman"/>
                <a:cs typeface="Times New Roman"/>
              </a:rPr>
              <a:t>created</a:t>
            </a:r>
            <a:r>
              <a:rPr dirty="0" sz="2400" spc="45" b="0">
                <a:latin typeface="Times New Roman"/>
                <a:cs typeface="Times New Roman"/>
              </a:rPr>
              <a:t> </a:t>
            </a:r>
            <a:r>
              <a:rPr dirty="0" sz="2400" b="0">
                <a:latin typeface="Times New Roman"/>
                <a:cs typeface="Times New Roman"/>
              </a:rPr>
              <a:t>delays</a:t>
            </a:r>
            <a:r>
              <a:rPr dirty="0" sz="2400" spc="45" b="0">
                <a:latin typeface="Times New Roman"/>
                <a:cs typeface="Times New Roman"/>
              </a:rPr>
              <a:t> </a:t>
            </a:r>
            <a:r>
              <a:rPr dirty="0" sz="2400" spc="120" b="0">
                <a:latin typeface="Times New Roman"/>
                <a:cs typeface="Times New Roman"/>
              </a:rPr>
              <a:t>and</a:t>
            </a:r>
            <a:r>
              <a:rPr dirty="0" sz="2400" spc="40" b="0">
                <a:latin typeface="Times New Roman"/>
                <a:cs typeface="Times New Roman"/>
              </a:rPr>
              <a:t> </a:t>
            </a:r>
            <a:r>
              <a:rPr dirty="0" sz="2400" spc="55" b="0">
                <a:latin typeface="Times New Roman"/>
                <a:cs typeface="Times New Roman"/>
              </a:rPr>
              <a:t>confusion</a:t>
            </a:r>
            <a:r>
              <a:rPr dirty="0" sz="2400" spc="45" b="0">
                <a:latin typeface="Times New Roman"/>
                <a:cs typeface="Times New Roman"/>
              </a:rPr>
              <a:t> </a:t>
            </a:r>
            <a:r>
              <a:rPr dirty="0" sz="2400" spc="50" b="0">
                <a:latin typeface="Times New Roman"/>
                <a:cs typeface="Times New Roman"/>
              </a:rPr>
              <a:t>in</a:t>
            </a:r>
            <a:r>
              <a:rPr dirty="0" sz="2400" spc="45" b="0">
                <a:latin typeface="Times New Roman"/>
                <a:cs typeface="Times New Roman"/>
              </a:rPr>
              <a:t> </a:t>
            </a:r>
            <a:r>
              <a:rPr dirty="0" sz="2400" spc="50" b="0">
                <a:latin typeface="Times New Roman"/>
                <a:cs typeface="Times New Roman"/>
              </a:rPr>
              <a:t>addressing</a:t>
            </a:r>
            <a:r>
              <a:rPr dirty="0" sz="2400" spc="45" b="0">
                <a:latin typeface="Times New Roman"/>
                <a:cs typeface="Times New Roman"/>
              </a:rPr>
              <a:t> </a:t>
            </a:r>
            <a:r>
              <a:rPr dirty="0" sz="2400" spc="50" b="0">
                <a:latin typeface="Times New Roman"/>
                <a:cs typeface="Times New Roman"/>
              </a:rPr>
              <a:t>bugs</a:t>
            </a:r>
            <a:r>
              <a:rPr dirty="0" sz="2400" spc="45" b="0">
                <a:latin typeface="Times New Roman"/>
                <a:cs typeface="Times New Roman"/>
              </a:rPr>
              <a:t> </a:t>
            </a:r>
            <a:r>
              <a:rPr dirty="0" sz="2400" spc="60" b="0">
                <a:latin typeface="Times New Roman"/>
                <a:cs typeface="Times New Roman"/>
              </a:rPr>
              <a:t>related</a:t>
            </a:r>
            <a:r>
              <a:rPr dirty="0" sz="2400" spc="45" b="0">
                <a:latin typeface="Times New Roman"/>
                <a:cs typeface="Times New Roman"/>
              </a:rPr>
              <a:t> </a:t>
            </a:r>
            <a:r>
              <a:rPr dirty="0" sz="2400" spc="125" b="0">
                <a:latin typeface="Times New Roman"/>
                <a:cs typeface="Times New Roman"/>
              </a:rPr>
              <a:t>to</a:t>
            </a:r>
            <a:r>
              <a:rPr dirty="0" sz="2400" spc="40" b="0">
                <a:latin typeface="Times New Roman"/>
                <a:cs typeface="Times New Roman"/>
              </a:rPr>
              <a:t> </a:t>
            </a:r>
            <a:r>
              <a:rPr dirty="0" sz="2400" b="0">
                <a:latin typeface="Times New Roman"/>
                <a:cs typeface="Times New Roman"/>
              </a:rPr>
              <a:t>these</a:t>
            </a:r>
            <a:r>
              <a:rPr dirty="0" sz="2400" spc="45" b="0">
                <a:latin typeface="Times New Roman"/>
                <a:cs typeface="Times New Roman"/>
              </a:rPr>
              <a:t> </a:t>
            </a:r>
            <a:r>
              <a:rPr dirty="0" sz="2400" spc="65" b="0">
                <a:latin typeface="Times New Roman"/>
                <a:cs typeface="Times New Roman"/>
              </a:rPr>
              <a:t>forms</a:t>
            </a:r>
            <a:r>
              <a:rPr dirty="0" sz="2400" spc="45" b="0">
                <a:latin typeface="Times New Roman"/>
                <a:cs typeface="Times New Roman"/>
              </a:rPr>
              <a:t> </a:t>
            </a:r>
            <a:r>
              <a:rPr dirty="0" sz="2400" spc="120" b="0">
                <a:latin typeface="Times New Roman"/>
                <a:cs typeface="Times New Roman"/>
              </a:rPr>
              <a:t>and</a:t>
            </a:r>
            <a:r>
              <a:rPr dirty="0" sz="2400" spc="45" b="0">
                <a:latin typeface="Times New Roman"/>
                <a:cs typeface="Times New Roman"/>
              </a:rPr>
              <a:t> </a:t>
            </a:r>
            <a:r>
              <a:rPr dirty="0" sz="2400" spc="35" b="0">
                <a:latin typeface="Times New Roman"/>
                <a:cs typeface="Times New Roman"/>
              </a:rPr>
              <a:t>workflows.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150" spc="2425" b="0">
                <a:latin typeface="Webdings"/>
                <a:cs typeface="Webdings"/>
              </a:rPr>
              <a:t>🎯</a:t>
            </a:r>
            <a:r>
              <a:rPr dirty="0" sz="3150" spc="-90" b="0">
                <a:latin typeface="Times New Roman"/>
                <a:cs typeface="Times New Roman"/>
              </a:rPr>
              <a:t> </a:t>
            </a:r>
            <a:r>
              <a:rPr dirty="0" spc="-10"/>
              <a:t>Problem</a:t>
            </a:r>
            <a:r>
              <a:rPr dirty="0" spc="-10" b="0">
                <a:latin typeface="Times New Roman"/>
                <a:cs typeface="Times New Roman"/>
              </a:rPr>
              <a:t>:</a:t>
            </a:r>
            <a:endParaRPr sz="3150">
              <a:latin typeface="Times New Roman"/>
              <a:cs typeface="Times New Roman"/>
            </a:endParaRPr>
          </a:p>
          <a:p>
            <a:pPr marL="530225">
              <a:lnSpc>
                <a:spcPct val="100000"/>
              </a:lnSpc>
              <a:spcBef>
                <a:spcPts val="3045"/>
              </a:spcBef>
            </a:pPr>
            <a:r>
              <a:rPr dirty="0" sz="2400" spc="170" b="0">
                <a:latin typeface="Times New Roman"/>
                <a:cs typeface="Times New Roman"/>
              </a:rPr>
              <a:t>No</a:t>
            </a:r>
            <a:r>
              <a:rPr dirty="0" sz="2400" spc="60" b="0">
                <a:latin typeface="Times New Roman"/>
                <a:cs typeface="Times New Roman"/>
              </a:rPr>
              <a:t> </a:t>
            </a:r>
            <a:r>
              <a:rPr dirty="0" sz="2400" b="0">
                <a:latin typeface="Times New Roman"/>
                <a:cs typeface="Times New Roman"/>
              </a:rPr>
              <a:t>centralized</a:t>
            </a:r>
            <a:r>
              <a:rPr dirty="0" sz="2400" spc="65" b="0">
                <a:latin typeface="Times New Roman"/>
                <a:cs typeface="Times New Roman"/>
              </a:rPr>
              <a:t> </a:t>
            </a:r>
            <a:r>
              <a:rPr dirty="0" sz="2400" b="0">
                <a:latin typeface="Times New Roman"/>
                <a:cs typeface="Times New Roman"/>
              </a:rPr>
              <a:t>system</a:t>
            </a:r>
            <a:r>
              <a:rPr dirty="0" sz="2400" spc="65" b="0">
                <a:latin typeface="Times New Roman"/>
                <a:cs typeface="Times New Roman"/>
              </a:rPr>
              <a:t> </a:t>
            </a:r>
            <a:r>
              <a:rPr dirty="0" sz="2400" spc="125" b="0">
                <a:latin typeface="Times New Roman"/>
                <a:cs typeface="Times New Roman"/>
              </a:rPr>
              <a:t>to</a:t>
            </a:r>
            <a:r>
              <a:rPr dirty="0" sz="2400" spc="65" b="0">
                <a:latin typeface="Times New Roman"/>
                <a:cs typeface="Times New Roman"/>
              </a:rPr>
              <a:t> </a:t>
            </a:r>
            <a:r>
              <a:rPr dirty="0" sz="2400" spc="75" b="0">
                <a:latin typeface="Times New Roman"/>
                <a:cs typeface="Times New Roman"/>
              </a:rPr>
              <a:t>manage</a:t>
            </a:r>
            <a:r>
              <a:rPr dirty="0" sz="2400" spc="65" b="0">
                <a:latin typeface="Times New Roman"/>
                <a:cs typeface="Times New Roman"/>
              </a:rPr>
              <a:t> </a:t>
            </a:r>
            <a:r>
              <a:rPr dirty="0" sz="2400" spc="120" b="0">
                <a:latin typeface="Times New Roman"/>
                <a:cs typeface="Times New Roman"/>
              </a:rPr>
              <a:t>and</a:t>
            </a:r>
            <a:r>
              <a:rPr dirty="0" sz="2400" spc="65" b="0">
                <a:latin typeface="Times New Roman"/>
                <a:cs typeface="Times New Roman"/>
              </a:rPr>
              <a:t> </a:t>
            </a:r>
            <a:r>
              <a:rPr dirty="0" sz="2400" spc="100" b="0">
                <a:latin typeface="Times New Roman"/>
                <a:cs typeface="Times New Roman"/>
              </a:rPr>
              <a:t>monitor</a:t>
            </a:r>
            <a:r>
              <a:rPr dirty="0" sz="2400" spc="65" b="0">
                <a:latin typeface="Times New Roman"/>
                <a:cs typeface="Times New Roman"/>
              </a:rPr>
              <a:t> </a:t>
            </a:r>
            <a:r>
              <a:rPr dirty="0" sz="2400" spc="80" b="0">
                <a:latin typeface="Times New Roman"/>
                <a:cs typeface="Times New Roman"/>
              </a:rPr>
              <a:t>bug</a:t>
            </a:r>
            <a:r>
              <a:rPr dirty="0" sz="2400" spc="65" b="0">
                <a:latin typeface="Times New Roman"/>
                <a:cs typeface="Times New Roman"/>
              </a:rPr>
              <a:t> </a:t>
            </a:r>
            <a:r>
              <a:rPr dirty="0" sz="2400" spc="80" b="0">
                <a:latin typeface="Times New Roman"/>
                <a:cs typeface="Times New Roman"/>
              </a:rPr>
              <a:t>reports</a:t>
            </a:r>
            <a:r>
              <a:rPr dirty="0" sz="2400" spc="65" b="0">
                <a:latin typeface="Times New Roman"/>
                <a:cs typeface="Times New Roman"/>
              </a:rPr>
              <a:t> </a:t>
            </a:r>
            <a:r>
              <a:rPr dirty="0" sz="2400" spc="50" b="0">
                <a:latin typeface="Times New Roman"/>
                <a:cs typeface="Times New Roman"/>
              </a:rPr>
              <a:t>across</a:t>
            </a:r>
            <a:r>
              <a:rPr dirty="0" sz="2400" spc="65" b="0">
                <a:latin typeface="Times New Roman"/>
                <a:cs typeface="Times New Roman"/>
              </a:rPr>
              <a:t> </a:t>
            </a:r>
            <a:r>
              <a:rPr dirty="0" sz="2400" spc="80" b="0">
                <a:latin typeface="Times New Roman"/>
                <a:cs typeface="Times New Roman"/>
              </a:rPr>
              <a:t>the</a:t>
            </a:r>
            <a:r>
              <a:rPr dirty="0" sz="2400" spc="65" b="0">
                <a:latin typeface="Times New Roman"/>
                <a:cs typeface="Times New Roman"/>
              </a:rPr>
              <a:t> </a:t>
            </a:r>
            <a:r>
              <a:rPr dirty="0" sz="2400" spc="155" b="0">
                <a:latin typeface="Times New Roman"/>
                <a:cs typeface="Times New Roman"/>
              </a:rPr>
              <a:t>ERP</a:t>
            </a:r>
            <a:r>
              <a:rPr dirty="0" sz="2400" spc="65" b="0">
                <a:latin typeface="Times New Roman"/>
                <a:cs typeface="Times New Roman"/>
              </a:rPr>
              <a:t> </a:t>
            </a:r>
            <a:r>
              <a:rPr dirty="0" sz="2400" spc="45" b="0">
                <a:latin typeface="Times New Roman"/>
                <a:cs typeface="Times New Roman"/>
              </a:rPr>
              <a:t>modules.</a:t>
            </a:r>
            <a:endParaRPr sz="2400">
              <a:latin typeface="Times New Roman"/>
              <a:cs typeface="Times New Roman"/>
            </a:endParaRPr>
          </a:p>
          <a:p>
            <a:pPr marL="530225">
              <a:lnSpc>
                <a:spcPct val="100000"/>
              </a:lnSpc>
              <a:spcBef>
                <a:spcPts val="345"/>
              </a:spcBef>
            </a:pPr>
            <a:r>
              <a:rPr dirty="0" sz="2400" b="0">
                <a:latin typeface="Times New Roman"/>
                <a:cs typeface="Times New Roman"/>
              </a:rPr>
              <a:t>Difficult</a:t>
            </a:r>
            <a:r>
              <a:rPr dirty="0" sz="2400" spc="100" b="0">
                <a:latin typeface="Times New Roman"/>
                <a:cs typeface="Times New Roman"/>
              </a:rPr>
              <a:t> </a:t>
            </a:r>
            <a:r>
              <a:rPr dirty="0" sz="2400" spc="125" b="0">
                <a:latin typeface="Times New Roman"/>
                <a:cs typeface="Times New Roman"/>
              </a:rPr>
              <a:t>to</a:t>
            </a:r>
            <a:r>
              <a:rPr dirty="0" sz="2400" spc="100" b="0">
                <a:latin typeface="Times New Roman"/>
                <a:cs typeface="Times New Roman"/>
              </a:rPr>
              <a:t> </a:t>
            </a:r>
            <a:r>
              <a:rPr dirty="0" sz="2400" spc="95" b="0">
                <a:latin typeface="Times New Roman"/>
                <a:cs typeface="Times New Roman"/>
              </a:rPr>
              <a:t>track</a:t>
            </a:r>
            <a:r>
              <a:rPr dirty="0" sz="2400" spc="100" b="0">
                <a:latin typeface="Times New Roman"/>
                <a:cs typeface="Times New Roman"/>
              </a:rPr>
              <a:t> </a:t>
            </a:r>
            <a:r>
              <a:rPr dirty="0" sz="2400" b="0">
                <a:latin typeface="Times New Roman"/>
                <a:cs typeface="Times New Roman"/>
              </a:rPr>
              <a:t>which</a:t>
            </a:r>
            <a:r>
              <a:rPr dirty="0" sz="2400" spc="100" b="0">
                <a:latin typeface="Times New Roman"/>
                <a:cs typeface="Times New Roman"/>
              </a:rPr>
              <a:t> </a:t>
            </a:r>
            <a:r>
              <a:rPr dirty="0" sz="2400" b="0">
                <a:latin typeface="Times New Roman"/>
                <a:cs typeface="Times New Roman"/>
              </a:rPr>
              <a:t>issues</a:t>
            </a:r>
            <a:r>
              <a:rPr dirty="0" sz="2400" spc="100" b="0">
                <a:latin typeface="Times New Roman"/>
                <a:cs typeface="Times New Roman"/>
              </a:rPr>
              <a:t> </a:t>
            </a:r>
            <a:r>
              <a:rPr dirty="0" sz="2400" b="0">
                <a:latin typeface="Times New Roman"/>
                <a:cs typeface="Times New Roman"/>
              </a:rPr>
              <a:t>were</a:t>
            </a:r>
            <a:r>
              <a:rPr dirty="0" sz="2400" spc="100" b="0">
                <a:latin typeface="Times New Roman"/>
                <a:cs typeface="Times New Roman"/>
              </a:rPr>
              <a:t> </a:t>
            </a:r>
            <a:r>
              <a:rPr dirty="0" sz="2400" spc="60" b="0">
                <a:latin typeface="Times New Roman"/>
                <a:cs typeface="Times New Roman"/>
              </a:rPr>
              <a:t>pending,</a:t>
            </a:r>
            <a:r>
              <a:rPr dirty="0" sz="2400" spc="105" b="0">
                <a:latin typeface="Times New Roman"/>
                <a:cs typeface="Times New Roman"/>
              </a:rPr>
              <a:t> </a:t>
            </a:r>
            <a:r>
              <a:rPr dirty="0" sz="2400" b="0">
                <a:latin typeface="Times New Roman"/>
                <a:cs typeface="Times New Roman"/>
              </a:rPr>
              <a:t>resolved,</a:t>
            </a:r>
            <a:r>
              <a:rPr dirty="0" sz="2400" spc="100" b="0">
                <a:latin typeface="Times New Roman"/>
                <a:cs typeface="Times New Roman"/>
              </a:rPr>
              <a:t> </a:t>
            </a:r>
            <a:r>
              <a:rPr dirty="0" sz="2400" spc="120" b="0">
                <a:latin typeface="Times New Roman"/>
                <a:cs typeface="Times New Roman"/>
              </a:rPr>
              <a:t>or</a:t>
            </a:r>
            <a:r>
              <a:rPr dirty="0" sz="2400" spc="100" b="0">
                <a:latin typeface="Times New Roman"/>
                <a:cs typeface="Times New Roman"/>
              </a:rPr>
              <a:t> </a:t>
            </a:r>
            <a:r>
              <a:rPr dirty="0" sz="2400" spc="65" b="0">
                <a:latin typeface="Times New Roman"/>
                <a:cs typeface="Times New Roman"/>
              </a:rPr>
              <a:t>reopened</a:t>
            </a:r>
            <a:r>
              <a:rPr dirty="0" sz="2400" spc="100" b="0">
                <a:latin typeface="Times New Roman"/>
                <a:cs typeface="Times New Roman"/>
              </a:rPr>
              <a:t> </a:t>
            </a:r>
            <a:r>
              <a:rPr dirty="0" sz="2400" b="0">
                <a:latin typeface="Times New Roman"/>
                <a:cs typeface="Times New Roman"/>
              </a:rPr>
              <a:t>—</a:t>
            </a:r>
            <a:r>
              <a:rPr dirty="0" sz="2400" spc="100" b="0">
                <a:latin typeface="Times New Roman"/>
                <a:cs typeface="Times New Roman"/>
              </a:rPr>
              <a:t> </a:t>
            </a:r>
            <a:r>
              <a:rPr dirty="0" sz="2400" b="0">
                <a:latin typeface="Times New Roman"/>
                <a:cs typeface="Times New Roman"/>
              </a:rPr>
              <a:t>especially</a:t>
            </a:r>
            <a:r>
              <a:rPr dirty="0" sz="2400" spc="100" b="0">
                <a:latin typeface="Times New Roman"/>
                <a:cs typeface="Times New Roman"/>
              </a:rPr>
              <a:t> </a:t>
            </a:r>
            <a:r>
              <a:rPr dirty="0" sz="2400" spc="75" b="0">
                <a:latin typeface="Times New Roman"/>
                <a:cs typeface="Times New Roman"/>
              </a:rPr>
              <a:t>for</a:t>
            </a:r>
            <a:r>
              <a:rPr dirty="0" sz="2400" spc="100" b="0">
                <a:latin typeface="Times New Roman"/>
                <a:cs typeface="Times New Roman"/>
              </a:rPr>
              <a:t> </a:t>
            </a:r>
            <a:r>
              <a:rPr dirty="0" sz="2400" b="0">
                <a:latin typeface="Times New Roman"/>
                <a:cs typeface="Times New Roman"/>
              </a:rPr>
              <a:t>PSPCL’s</a:t>
            </a:r>
            <a:r>
              <a:rPr dirty="0" sz="2400" spc="100" b="0">
                <a:latin typeface="Times New Roman"/>
                <a:cs typeface="Times New Roman"/>
              </a:rPr>
              <a:t> </a:t>
            </a:r>
            <a:r>
              <a:rPr dirty="0" sz="2400" spc="80" b="0">
                <a:latin typeface="Times New Roman"/>
                <a:cs typeface="Times New Roman"/>
              </a:rPr>
              <a:t>SR/SRW-</a:t>
            </a:r>
            <a:r>
              <a:rPr dirty="0" sz="2400" spc="60" b="0">
                <a:latin typeface="Times New Roman"/>
                <a:cs typeface="Times New Roman"/>
              </a:rPr>
              <a:t>related</a:t>
            </a:r>
            <a:r>
              <a:rPr dirty="0" sz="2400" spc="105" b="0">
                <a:latin typeface="Times New Roman"/>
                <a:cs typeface="Times New Roman"/>
              </a:rPr>
              <a:t> </a:t>
            </a:r>
            <a:r>
              <a:rPr dirty="0" sz="2400" spc="40" b="0">
                <a:latin typeface="Times New Roman"/>
                <a:cs typeface="Times New Roman"/>
              </a:rPr>
              <a:t>requests.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3150" spc="-380" b="0">
                <a:latin typeface="SimSun-ExtB"/>
                <a:cs typeface="SimSun-ExtB"/>
              </a:rPr>
              <a:t>✅</a:t>
            </a:r>
            <a:r>
              <a:rPr dirty="0" sz="3150" spc="-875" b="0">
                <a:latin typeface="SimSun-ExtB"/>
                <a:cs typeface="SimSun-ExtB"/>
              </a:rPr>
              <a:t> </a:t>
            </a:r>
            <a:r>
              <a:rPr dirty="0" spc="-10"/>
              <a:t>Objective</a:t>
            </a:r>
            <a:r>
              <a:rPr dirty="0" spc="-10" b="0">
                <a:latin typeface="Times New Roman"/>
                <a:cs typeface="Times New Roman"/>
              </a:rPr>
              <a:t>:</a:t>
            </a:r>
            <a:endParaRPr sz="3150">
              <a:latin typeface="Times New Roman"/>
              <a:cs typeface="Times New Roman"/>
            </a:endParaRPr>
          </a:p>
          <a:p>
            <a:pPr marL="530225" marR="591820">
              <a:lnSpc>
                <a:spcPct val="112000"/>
              </a:lnSpc>
              <a:spcBef>
                <a:spcPts val="2470"/>
              </a:spcBef>
            </a:pPr>
            <a:r>
              <a:rPr dirty="0" sz="2400" spc="75" b="0">
                <a:latin typeface="Times New Roman"/>
                <a:cs typeface="Times New Roman"/>
              </a:rPr>
              <a:t>Integrate</a:t>
            </a:r>
            <a:r>
              <a:rPr dirty="0" sz="2400" spc="40" b="0">
                <a:latin typeface="Times New Roman"/>
                <a:cs typeface="Times New Roman"/>
              </a:rPr>
              <a:t> </a:t>
            </a:r>
            <a:r>
              <a:rPr dirty="0" sz="2400" spc="125" b="0">
                <a:latin typeface="Times New Roman"/>
                <a:cs typeface="Times New Roman"/>
              </a:rPr>
              <a:t>a</a:t>
            </a:r>
            <a:r>
              <a:rPr dirty="0" sz="2400" spc="45" b="0">
                <a:latin typeface="Times New Roman"/>
                <a:cs typeface="Times New Roman"/>
              </a:rPr>
              <a:t> </a:t>
            </a:r>
            <a:r>
              <a:rPr dirty="0" sz="2400" spc="80" b="0">
                <a:latin typeface="Times New Roman"/>
                <a:cs typeface="Times New Roman"/>
              </a:rPr>
              <a:t>bug</a:t>
            </a:r>
            <a:r>
              <a:rPr dirty="0" sz="2400" spc="45" b="0">
                <a:latin typeface="Times New Roman"/>
                <a:cs typeface="Times New Roman"/>
              </a:rPr>
              <a:t> </a:t>
            </a:r>
            <a:r>
              <a:rPr dirty="0" sz="2400" spc="70" b="0">
                <a:latin typeface="Times New Roman"/>
                <a:cs typeface="Times New Roman"/>
              </a:rPr>
              <a:t>tracking</a:t>
            </a:r>
            <a:r>
              <a:rPr dirty="0" sz="2400" spc="45" b="0">
                <a:latin typeface="Times New Roman"/>
                <a:cs typeface="Times New Roman"/>
              </a:rPr>
              <a:t> </a:t>
            </a:r>
            <a:r>
              <a:rPr dirty="0" sz="2400" b="0">
                <a:latin typeface="Times New Roman"/>
                <a:cs typeface="Times New Roman"/>
              </a:rPr>
              <a:t>system</a:t>
            </a:r>
            <a:r>
              <a:rPr dirty="0" sz="2400" spc="40" b="0">
                <a:latin typeface="Times New Roman"/>
                <a:cs typeface="Times New Roman"/>
              </a:rPr>
              <a:t> </a:t>
            </a:r>
            <a:r>
              <a:rPr dirty="0" sz="2400" spc="80" b="0">
                <a:latin typeface="Times New Roman"/>
                <a:cs typeface="Times New Roman"/>
              </a:rPr>
              <a:t>(Mantis</a:t>
            </a:r>
            <a:r>
              <a:rPr dirty="0" sz="2400" spc="45" b="0">
                <a:latin typeface="Times New Roman"/>
                <a:cs typeface="Times New Roman"/>
              </a:rPr>
              <a:t> </a:t>
            </a:r>
            <a:r>
              <a:rPr dirty="0" sz="2400" b="0">
                <a:latin typeface="Times New Roman"/>
                <a:cs typeface="Times New Roman"/>
              </a:rPr>
              <a:t>Bug</a:t>
            </a:r>
            <a:r>
              <a:rPr dirty="0" sz="2400" spc="45" b="0">
                <a:latin typeface="Times New Roman"/>
                <a:cs typeface="Times New Roman"/>
              </a:rPr>
              <a:t> </a:t>
            </a:r>
            <a:r>
              <a:rPr dirty="0" sz="2400" spc="70" b="0">
                <a:latin typeface="Times New Roman"/>
                <a:cs typeface="Times New Roman"/>
              </a:rPr>
              <a:t>Tracker)</a:t>
            </a:r>
            <a:r>
              <a:rPr dirty="0" sz="2400" spc="45" b="0">
                <a:latin typeface="Times New Roman"/>
                <a:cs typeface="Times New Roman"/>
              </a:rPr>
              <a:t> </a:t>
            </a:r>
            <a:r>
              <a:rPr dirty="0" sz="2400" spc="125" b="0">
                <a:latin typeface="Times New Roman"/>
                <a:cs typeface="Times New Roman"/>
              </a:rPr>
              <a:t>to</a:t>
            </a:r>
            <a:r>
              <a:rPr dirty="0" sz="2400" spc="40" b="0">
                <a:latin typeface="Times New Roman"/>
                <a:cs typeface="Times New Roman"/>
              </a:rPr>
              <a:t> </a:t>
            </a:r>
            <a:r>
              <a:rPr dirty="0" sz="2400" spc="50" b="0">
                <a:latin typeface="Times New Roman"/>
                <a:cs typeface="Times New Roman"/>
              </a:rPr>
              <a:t>streamline</a:t>
            </a:r>
            <a:r>
              <a:rPr dirty="0" sz="2400" spc="45" b="0">
                <a:latin typeface="Times New Roman"/>
                <a:cs typeface="Times New Roman"/>
              </a:rPr>
              <a:t> </a:t>
            </a:r>
            <a:r>
              <a:rPr dirty="0" sz="2400" spc="70" b="0">
                <a:latin typeface="Times New Roman"/>
                <a:cs typeface="Times New Roman"/>
              </a:rPr>
              <a:t>how</a:t>
            </a:r>
            <a:r>
              <a:rPr dirty="0" sz="2400" spc="45" b="0">
                <a:latin typeface="Times New Roman"/>
                <a:cs typeface="Times New Roman"/>
              </a:rPr>
              <a:t> </a:t>
            </a:r>
            <a:r>
              <a:rPr dirty="0" sz="2400" spc="85" b="0">
                <a:latin typeface="Times New Roman"/>
                <a:cs typeface="Times New Roman"/>
              </a:rPr>
              <a:t>PSPCL</a:t>
            </a:r>
            <a:r>
              <a:rPr dirty="0" sz="2400" spc="45" b="0">
                <a:latin typeface="Times New Roman"/>
                <a:cs typeface="Times New Roman"/>
              </a:rPr>
              <a:t> </a:t>
            </a:r>
            <a:r>
              <a:rPr dirty="0" sz="2400" b="0">
                <a:latin typeface="Times New Roman"/>
                <a:cs typeface="Times New Roman"/>
              </a:rPr>
              <a:t>logs</a:t>
            </a:r>
            <a:r>
              <a:rPr dirty="0" sz="2400" spc="45" b="0">
                <a:latin typeface="Times New Roman"/>
                <a:cs typeface="Times New Roman"/>
              </a:rPr>
              <a:t> </a:t>
            </a:r>
            <a:r>
              <a:rPr dirty="0" sz="2400" b="0">
                <a:latin typeface="Times New Roman"/>
                <a:cs typeface="Times New Roman"/>
              </a:rPr>
              <a:t>issues</a:t>
            </a:r>
            <a:r>
              <a:rPr dirty="0" sz="2400" spc="40" b="0">
                <a:latin typeface="Times New Roman"/>
                <a:cs typeface="Times New Roman"/>
              </a:rPr>
              <a:t> </a:t>
            </a:r>
            <a:r>
              <a:rPr dirty="0" sz="2400" spc="120" b="0">
                <a:latin typeface="Times New Roman"/>
                <a:cs typeface="Times New Roman"/>
              </a:rPr>
              <a:t>and</a:t>
            </a:r>
            <a:r>
              <a:rPr dirty="0" sz="2400" spc="45" b="0">
                <a:latin typeface="Times New Roman"/>
                <a:cs typeface="Times New Roman"/>
              </a:rPr>
              <a:t> </a:t>
            </a:r>
            <a:r>
              <a:rPr dirty="0" sz="2400" spc="105" b="0">
                <a:latin typeface="Times New Roman"/>
                <a:cs typeface="Times New Roman"/>
              </a:rPr>
              <a:t>AWC</a:t>
            </a:r>
            <a:r>
              <a:rPr dirty="0" sz="2400" spc="45" b="0">
                <a:latin typeface="Times New Roman"/>
                <a:cs typeface="Times New Roman"/>
              </a:rPr>
              <a:t> </a:t>
            </a:r>
            <a:r>
              <a:rPr dirty="0" sz="2400" b="0">
                <a:latin typeface="Times New Roman"/>
                <a:cs typeface="Times New Roman"/>
              </a:rPr>
              <a:t>resolves</a:t>
            </a:r>
            <a:r>
              <a:rPr dirty="0" sz="2400" spc="45" b="0">
                <a:latin typeface="Times New Roman"/>
                <a:cs typeface="Times New Roman"/>
              </a:rPr>
              <a:t> </a:t>
            </a:r>
            <a:r>
              <a:rPr dirty="0" sz="2400" spc="55" b="0">
                <a:latin typeface="Times New Roman"/>
                <a:cs typeface="Times New Roman"/>
              </a:rPr>
              <a:t>them. </a:t>
            </a:r>
            <a:r>
              <a:rPr dirty="0" sz="2400" spc="100" b="0">
                <a:latin typeface="Times New Roman"/>
                <a:cs typeface="Times New Roman"/>
              </a:rPr>
              <a:t>Support</a:t>
            </a:r>
            <a:r>
              <a:rPr dirty="0" sz="2400" spc="20" b="0">
                <a:latin typeface="Times New Roman"/>
                <a:cs typeface="Times New Roman"/>
              </a:rPr>
              <a:t> </a:t>
            </a:r>
            <a:r>
              <a:rPr dirty="0" sz="2400" spc="85" b="0">
                <a:latin typeface="Times New Roman"/>
                <a:cs typeface="Times New Roman"/>
              </a:rPr>
              <a:t>smoother</a:t>
            </a:r>
            <a:r>
              <a:rPr dirty="0" sz="2400" spc="25" b="0">
                <a:latin typeface="Times New Roman"/>
                <a:cs typeface="Times New Roman"/>
              </a:rPr>
              <a:t> </a:t>
            </a:r>
            <a:r>
              <a:rPr dirty="0" sz="2400" spc="65" b="0">
                <a:latin typeface="Times New Roman"/>
                <a:cs typeface="Times New Roman"/>
              </a:rPr>
              <a:t>resolution</a:t>
            </a:r>
            <a:r>
              <a:rPr dirty="0" sz="2400" spc="25" b="0">
                <a:latin typeface="Times New Roman"/>
                <a:cs typeface="Times New Roman"/>
              </a:rPr>
              <a:t> </a:t>
            </a:r>
            <a:r>
              <a:rPr dirty="0" sz="2400" b="0">
                <a:latin typeface="Times New Roman"/>
                <a:cs typeface="Times New Roman"/>
              </a:rPr>
              <a:t>flow</a:t>
            </a:r>
            <a:r>
              <a:rPr dirty="0" sz="2400" spc="25" b="0">
                <a:latin typeface="Times New Roman"/>
                <a:cs typeface="Times New Roman"/>
              </a:rPr>
              <a:t> </a:t>
            </a:r>
            <a:r>
              <a:rPr dirty="0" sz="2400" spc="120" b="0">
                <a:latin typeface="Times New Roman"/>
                <a:cs typeface="Times New Roman"/>
              </a:rPr>
              <a:t>and</a:t>
            </a:r>
            <a:r>
              <a:rPr dirty="0" sz="2400" spc="25" b="0">
                <a:latin typeface="Times New Roman"/>
                <a:cs typeface="Times New Roman"/>
              </a:rPr>
              <a:t> </a:t>
            </a:r>
            <a:r>
              <a:rPr dirty="0" sz="2400" spc="60" b="0">
                <a:latin typeface="Times New Roman"/>
                <a:cs typeface="Times New Roman"/>
              </a:rPr>
              <a:t>improve</a:t>
            </a:r>
            <a:r>
              <a:rPr dirty="0" sz="2400" spc="20" b="0">
                <a:latin typeface="Times New Roman"/>
                <a:cs typeface="Times New Roman"/>
              </a:rPr>
              <a:t> </a:t>
            </a:r>
            <a:r>
              <a:rPr dirty="0" sz="2400" spc="80" b="0">
                <a:latin typeface="Times New Roman"/>
                <a:cs typeface="Times New Roman"/>
              </a:rPr>
              <a:t>the</a:t>
            </a:r>
            <a:r>
              <a:rPr dirty="0" sz="2400" spc="25" b="0">
                <a:latin typeface="Times New Roman"/>
                <a:cs typeface="Times New Roman"/>
              </a:rPr>
              <a:t> </a:t>
            </a:r>
            <a:r>
              <a:rPr dirty="0" sz="2400" spc="75" b="0">
                <a:latin typeface="Times New Roman"/>
                <a:cs typeface="Times New Roman"/>
              </a:rPr>
              <a:t>transparency</a:t>
            </a:r>
            <a:r>
              <a:rPr dirty="0" sz="2400" spc="25" b="0">
                <a:latin typeface="Times New Roman"/>
                <a:cs typeface="Times New Roman"/>
              </a:rPr>
              <a:t> </a:t>
            </a:r>
            <a:r>
              <a:rPr dirty="0" sz="2400" spc="55" b="0">
                <a:latin typeface="Times New Roman"/>
                <a:cs typeface="Times New Roman"/>
              </a:rPr>
              <a:t>of</a:t>
            </a:r>
            <a:r>
              <a:rPr dirty="0" sz="2400" spc="25" b="0">
                <a:latin typeface="Times New Roman"/>
                <a:cs typeface="Times New Roman"/>
              </a:rPr>
              <a:t> </a:t>
            </a:r>
            <a:r>
              <a:rPr dirty="0" sz="2400" b="0">
                <a:latin typeface="Times New Roman"/>
                <a:cs typeface="Times New Roman"/>
              </a:rPr>
              <a:t>issue</a:t>
            </a:r>
            <a:r>
              <a:rPr dirty="0" sz="2400" spc="25" b="0">
                <a:latin typeface="Times New Roman"/>
                <a:cs typeface="Times New Roman"/>
              </a:rPr>
              <a:t> </a:t>
            </a:r>
            <a:r>
              <a:rPr dirty="0" sz="2400" spc="60" b="0">
                <a:latin typeface="Times New Roman"/>
                <a:cs typeface="Times New Roman"/>
              </a:rPr>
              <a:t>status.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8694" y="1760761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1686" y="4675432"/>
            <a:ext cx="13525499" cy="47148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30"/>
              <a:t>PROJECT</a:t>
            </a:r>
            <a:r>
              <a:rPr dirty="0" spc="-345"/>
              <a:t> </a:t>
            </a:r>
            <a:r>
              <a:rPr dirty="0" spc="365"/>
              <a:t>SCOPE</a:t>
            </a:r>
            <a:r>
              <a:rPr dirty="0" spc="-345"/>
              <a:t> </a:t>
            </a:r>
            <a:r>
              <a:rPr dirty="0" spc="280"/>
              <a:t>&amp;</a:t>
            </a:r>
            <a:r>
              <a:rPr dirty="0" spc="-345"/>
              <a:t> </a:t>
            </a:r>
            <a:r>
              <a:rPr dirty="0" spc="80"/>
              <a:t>UTILITY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0649" y="2374353"/>
            <a:ext cx="85725" cy="8572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0649" y="3460203"/>
            <a:ext cx="85725" cy="8572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620390" y="2139435"/>
            <a:ext cx="15652115" cy="189992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620"/>
              </a:spcBef>
            </a:pPr>
            <a:r>
              <a:rPr dirty="0" sz="2800" spc="65">
                <a:solidFill>
                  <a:srgbClr val="2A2B2F"/>
                </a:solidFill>
                <a:latin typeface="Times New Roman"/>
                <a:cs typeface="Times New Roman"/>
              </a:rPr>
              <a:t>Develop</a:t>
            </a:r>
            <a:r>
              <a:rPr dirty="0" sz="2800" spc="34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40">
                <a:solidFill>
                  <a:srgbClr val="2A2B2F"/>
                </a:solidFill>
                <a:latin typeface="Times New Roman"/>
                <a:cs typeface="Times New Roman"/>
              </a:rPr>
              <a:t>and</a:t>
            </a:r>
            <a:r>
              <a:rPr dirty="0" sz="2800" spc="35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45">
                <a:solidFill>
                  <a:srgbClr val="2A2B2F"/>
                </a:solidFill>
                <a:latin typeface="Times New Roman"/>
                <a:cs typeface="Times New Roman"/>
              </a:rPr>
              <a:t>customize</a:t>
            </a:r>
            <a:r>
              <a:rPr dirty="0" sz="2800" spc="35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60">
                <a:solidFill>
                  <a:srgbClr val="2A2B2F"/>
                </a:solidFill>
                <a:latin typeface="Times New Roman"/>
                <a:cs typeface="Times New Roman"/>
              </a:rPr>
              <a:t>a</a:t>
            </a:r>
            <a:r>
              <a:rPr dirty="0" sz="2800" spc="35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90">
                <a:solidFill>
                  <a:srgbClr val="2A2B2F"/>
                </a:solidFill>
                <a:latin typeface="Times New Roman"/>
                <a:cs typeface="Times New Roman"/>
              </a:rPr>
              <a:t>bug</a:t>
            </a:r>
            <a:r>
              <a:rPr dirty="0" sz="2800" spc="35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80">
                <a:solidFill>
                  <a:srgbClr val="2A2B2F"/>
                </a:solidFill>
                <a:latin typeface="Times New Roman"/>
                <a:cs typeface="Times New Roman"/>
              </a:rPr>
              <a:t>tracking</a:t>
            </a:r>
            <a:r>
              <a:rPr dirty="0" sz="2800" spc="35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system</a:t>
            </a:r>
            <a:r>
              <a:rPr dirty="0" sz="2800" spc="35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80">
                <a:solidFill>
                  <a:srgbClr val="2A2B2F"/>
                </a:solidFill>
                <a:latin typeface="Times New Roman"/>
                <a:cs typeface="Times New Roman"/>
              </a:rPr>
              <a:t>(MantisBT)</a:t>
            </a:r>
            <a:r>
              <a:rPr dirty="0" sz="2800" spc="35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45">
                <a:solidFill>
                  <a:srgbClr val="2A2B2F"/>
                </a:solidFill>
                <a:latin typeface="Times New Roman"/>
                <a:cs typeface="Times New Roman"/>
              </a:rPr>
              <a:t>to</a:t>
            </a:r>
            <a:r>
              <a:rPr dirty="0" sz="2800" spc="34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streamline</a:t>
            </a:r>
            <a:r>
              <a:rPr dirty="0" sz="2800" spc="35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issue</a:t>
            </a:r>
            <a:r>
              <a:rPr dirty="0" sz="2800" spc="35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logging</a:t>
            </a:r>
            <a:r>
              <a:rPr dirty="0" sz="2800" spc="35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40">
                <a:solidFill>
                  <a:srgbClr val="2A2B2F"/>
                </a:solidFill>
                <a:latin typeface="Times New Roman"/>
                <a:cs typeface="Times New Roman"/>
              </a:rPr>
              <a:t>and</a:t>
            </a:r>
            <a:r>
              <a:rPr dirty="0" sz="2800" spc="35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65">
                <a:solidFill>
                  <a:srgbClr val="2A2B2F"/>
                </a:solidFill>
                <a:latin typeface="Times New Roman"/>
                <a:cs typeface="Times New Roman"/>
              </a:rPr>
              <a:t>resolution </a:t>
            </a:r>
            <a:r>
              <a:rPr dirty="0" sz="2800" spc="85">
                <a:solidFill>
                  <a:srgbClr val="2A2B2F"/>
                </a:solidFill>
                <a:latin typeface="Times New Roman"/>
                <a:cs typeface="Times New Roman"/>
              </a:rPr>
              <a:t>for</a:t>
            </a:r>
            <a:r>
              <a:rPr dirty="0" sz="2800" spc="9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PSPCL’s</a:t>
            </a:r>
            <a:r>
              <a:rPr dirty="0" sz="2800" spc="10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80">
                <a:solidFill>
                  <a:srgbClr val="2A2B2F"/>
                </a:solidFill>
                <a:latin typeface="Times New Roman"/>
                <a:cs typeface="Times New Roman"/>
              </a:rPr>
              <a:t>ERP</a:t>
            </a:r>
            <a:r>
              <a:rPr dirty="0" sz="2800" spc="9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50">
                <a:solidFill>
                  <a:srgbClr val="2A2B2F"/>
                </a:solidFill>
                <a:latin typeface="Times New Roman"/>
                <a:cs typeface="Times New Roman"/>
              </a:rPr>
              <a:t>modules.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ts val="2850"/>
              </a:lnSpc>
              <a:spcBef>
                <a:spcPts val="2850"/>
              </a:spcBef>
            </a:pPr>
            <a:r>
              <a:rPr dirty="0" sz="2800" spc="140">
                <a:solidFill>
                  <a:srgbClr val="2A2B2F"/>
                </a:solidFill>
                <a:latin typeface="Times New Roman"/>
                <a:cs typeface="Times New Roman"/>
              </a:rPr>
              <a:t>To</a:t>
            </a:r>
            <a:r>
              <a:rPr dirty="0" sz="2800" spc="34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65">
                <a:solidFill>
                  <a:srgbClr val="2A2B2F"/>
                </a:solidFill>
                <a:latin typeface="Times New Roman"/>
                <a:cs typeface="Times New Roman"/>
              </a:rPr>
              <a:t>improve</a:t>
            </a:r>
            <a:r>
              <a:rPr dirty="0" sz="2800" spc="34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90">
                <a:solidFill>
                  <a:srgbClr val="2A2B2F"/>
                </a:solidFill>
                <a:latin typeface="Times New Roman"/>
                <a:cs typeface="Times New Roman"/>
              </a:rPr>
              <a:t>the</a:t>
            </a:r>
            <a:r>
              <a:rPr dirty="0" sz="2800" spc="34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80">
                <a:solidFill>
                  <a:srgbClr val="2A2B2F"/>
                </a:solidFill>
                <a:latin typeface="Times New Roman"/>
                <a:cs typeface="Times New Roman"/>
              </a:rPr>
              <a:t>handling</a:t>
            </a:r>
            <a:r>
              <a:rPr dirty="0" sz="2800" spc="34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60">
                <a:solidFill>
                  <a:srgbClr val="2A2B2F"/>
                </a:solidFill>
                <a:latin typeface="Times New Roman"/>
                <a:cs typeface="Times New Roman"/>
              </a:rPr>
              <a:t>of</a:t>
            </a:r>
            <a:r>
              <a:rPr dirty="0" sz="2800" spc="34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20">
                <a:solidFill>
                  <a:srgbClr val="2A2B2F"/>
                </a:solidFill>
                <a:latin typeface="Times New Roman"/>
                <a:cs typeface="Times New Roman"/>
              </a:rPr>
              <a:t>SR</a:t>
            </a:r>
            <a:r>
              <a:rPr dirty="0" sz="2800" spc="34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40">
                <a:solidFill>
                  <a:srgbClr val="2A2B2F"/>
                </a:solidFill>
                <a:latin typeface="Times New Roman"/>
                <a:cs typeface="Times New Roman"/>
              </a:rPr>
              <a:t>and</a:t>
            </a:r>
            <a:r>
              <a:rPr dirty="0" sz="2800" spc="34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20">
                <a:solidFill>
                  <a:srgbClr val="2A2B2F"/>
                </a:solidFill>
                <a:latin typeface="Times New Roman"/>
                <a:cs typeface="Times New Roman"/>
              </a:rPr>
              <a:t>SRW</a:t>
            </a:r>
            <a:r>
              <a:rPr dirty="0" sz="2800" spc="34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65">
                <a:solidFill>
                  <a:srgbClr val="2A2B2F"/>
                </a:solidFill>
                <a:latin typeface="Times New Roman"/>
                <a:cs typeface="Times New Roman"/>
              </a:rPr>
              <a:t>forms,</a:t>
            </a:r>
            <a:r>
              <a:rPr dirty="0" sz="2800" spc="34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60">
                <a:solidFill>
                  <a:srgbClr val="2A2B2F"/>
                </a:solidFill>
                <a:latin typeface="Times New Roman"/>
                <a:cs typeface="Times New Roman"/>
              </a:rPr>
              <a:t>enabling</a:t>
            </a:r>
            <a:r>
              <a:rPr dirty="0" sz="2800" spc="34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90">
                <a:solidFill>
                  <a:srgbClr val="2A2B2F"/>
                </a:solidFill>
                <a:latin typeface="Times New Roman"/>
                <a:cs typeface="Times New Roman"/>
              </a:rPr>
              <a:t>better</a:t>
            </a:r>
            <a:r>
              <a:rPr dirty="0" sz="2800" spc="34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90">
                <a:solidFill>
                  <a:srgbClr val="2A2B2F"/>
                </a:solidFill>
                <a:latin typeface="Times New Roman"/>
                <a:cs typeface="Times New Roman"/>
              </a:rPr>
              <a:t>collaboration</a:t>
            </a:r>
            <a:r>
              <a:rPr dirty="0" sz="2800" spc="34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50">
                <a:solidFill>
                  <a:srgbClr val="2A2B2F"/>
                </a:solidFill>
                <a:latin typeface="Times New Roman"/>
                <a:cs typeface="Times New Roman"/>
              </a:rPr>
              <a:t>between</a:t>
            </a:r>
            <a:r>
              <a:rPr dirty="0" sz="2800" spc="34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00">
                <a:solidFill>
                  <a:srgbClr val="2A2B2F"/>
                </a:solidFill>
                <a:latin typeface="Times New Roman"/>
                <a:cs typeface="Times New Roman"/>
              </a:rPr>
              <a:t>PSPCL</a:t>
            </a:r>
            <a:r>
              <a:rPr dirty="0" sz="2800" spc="34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14">
                <a:solidFill>
                  <a:srgbClr val="2A2B2F"/>
                </a:solidFill>
                <a:latin typeface="Times New Roman"/>
                <a:cs typeface="Times New Roman"/>
              </a:rPr>
              <a:t>and </a:t>
            </a:r>
            <a:r>
              <a:rPr dirty="0" sz="2800" spc="130">
                <a:solidFill>
                  <a:srgbClr val="2A2B2F"/>
                </a:solidFill>
                <a:latin typeface="Times New Roman"/>
                <a:cs typeface="Times New Roman"/>
              </a:rPr>
              <a:t>AWC</a:t>
            </a: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85">
                <a:solidFill>
                  <a:srgbClr val="2A2B2F"/>
                </a:solidFill>
                <a:latin typeface="Times New Roman"/>
                <a:cs typeface="Times New Roman"/>
              </a:rPr>
              <a:t>for</a:t>
            </a: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65">
                <a:solidFill>
                  <a:srgbClr val="2A2B2F"/>
                </a:solidFill>
                <a:latin typeface="Times New Roman"/>
                <a:cs typeface="Times New Roman"/>
              </a:rPr>
              <a:t>faster</a:t>
            </a:r>
            <a:r>
              <a:rPr dirty="0" sz="2800" spc="5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40">
                <a:solidFill>
                  <a:srgbClr val="2A2B2F"/>
                </a:solidFill>
                <a:latin typeface="Times New Roman"/>
                <a:cs typeface="Times New Roman"/>
              </a:rPr>
              <a:t>and</a:t>
            </a: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85">
                <a:solidFill>
                  <a:srgbClr val="2A2B2F"/>
                </a:solidFill>
                <a:latin typeface="Times New Roman"/>
                <a:cs typeface="Times New Roman"/>
              </a:rPr>
              <a:t>more</a:t>
            </a: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reliable</a:t>
            </a: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2A2B2F"/>
                </a:solidFill>
                <a:latin typeface="Times New Roman"/>
                <a:cs typeface="Times New Roman"/>
              </a:rPr>
              <a:t>service.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8694" y="1760761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30"/>
              <a:t>PROJECT</a:t>
            </a:r>
            <a:r>
              <a:rPr dirty="0" spc="-340"/>
              <a:t> </a:t>
            </a:r>
            <a:r>
              <a:rPr dirty="0" spc="229"/>
              <a:t>ARCHITECTURE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9383" y="2347432"/>
            <a:ext cx="11315699" cy="75342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8694" y="1760761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4474" y="2751503"/>
            <a:ext cx="104774" cy="10477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4474" y="3608753"/>
            <a:ext cx="104774" cy="10477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4474" y="4466003"/>
            <a:ext cx="104774" cy="1047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4474" y="5323253"/>
            <a:ext cx="104774" cy="10477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771600" y="2446766"/>
            <a:ext cx="9539605" cy="3130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>
                <a:solidFill>
                  <a:srgbClr val="2A2B2F"/>
                </a:solidFill>
                <a:latin typeface="Times New Roman"/>
                <a:cs typeface="Times New Roman"/>
              </a:rPr>
              <a:t>Bug</a:t>
            </a:r>
            <a:r>
              <a:rPr dirty="0" sz="3500" spc="4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3500" spc="95">
                <a:solidFill>
                  <a:srgbClr val="2A2B2F"/>
                </a:solidFill>
                <a:latin typeface="Times New Roman"/>
                <a:cs typeface="Times New Roman"/>
              </a:rPr>
              <a:t>Tracker:</a:t>
            </a:r>
            <a:r>
              <a:rPr dirty="0" sz="3500" spc="4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3500" spc="120">
                <a:solidFill>
                  <a:srgbClr val="2A2B2F"/>
                </a:solidFill>
                <a:latin typeface="Times New Roman"/>
                <a:cs typeface="Times New Roman"/>
              </a:rPr>
              <a:t>MantisBT</a:t>
            </a:r>
            <a:r>
              <a:rPr dirty="0" sz="3500" spc="4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3500" spc="140">
                <a:solidFill>
                  <a:srgbClr val="2A2B2F"/>
                </a:solidFill>
                <a:latin typeface="Times New Roman"/>
                <a:cs typeface="Times New Roman"/>
              </a:rPr>
              <a:t>(PHP,</a:t>
            </a:r>
            <a:r>
              <a:rPr dirty="0" sz="3500" spc="4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3500" spc="105">
                <a:solidFill>
                  <a:srgbClr val="2A2B2F"/>
                </a:solidFill>
                <a:latin typeface="Times New Roman"/>
                <a:cs typeface="Times New Roman"/>
              </a:rPr>
              <a:t>MySQL-</a:t>
            </a:r>
            <a:r>
              <a:rPr dirty="0" sz="3500" spc="65">
                <a:solidFill>
                  <a:srgbClr val="2A2B2F"/>
                </a:solidFill>
                <a:latin typeface="Times New Roman"/>
                <a:cs typeface="Times New Roman"/>
              </a:rPr>
              <a:t>based)</a:t>
            </a:r>
            <a:endParaRPr sz="3500">
              <a:latin typeface="Times New Roman"/>
              <a:cs typeface="Times New Roman"/>
            </a:endParaRPr>
          </a:p>
          <a:p>
            <a:pPr marL="12700" marR="5080">
              <a:lnSpc>
                <a:spcPct val="160700"/>
              </a:lnSpc>
            </a:pPr>
            <a:r>
              <a:rPr dirty="0" sz="3500" spc="225">
                <a:solidFill>
                  <a:srgbClr val="2A2B2F"/>
                </a:solidFill>
                <a:latin typeface="Times New Roman"/>
                <a:cs typeface="Times New Roman"/>
              </a:rPr>
              <a:t>ERP</a:t>
            </a:r>
            <a:r>
              <a:rPr dirty="0" sz="3500" spc="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3500" spc="70">
                <a:solidFill>
                  <a:srgbClr val="2A2B2F"/>
                </a:solidFill>
                <a:latin typeface="Times New Roman"/>
                <a:cs typeface="Times New Roman"/>
              </a:rPr>
              <a:t>Tools:</a:t>
            </a:r>
            <a:r>
              <a:rPr dirty="0" sz="3500" spc="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3500" spc="65">
                <a:solidFill>
                  <a:srgbClr val="2A2B2F"/>
                </a:solidFill>
                <a:latin typeface="Times New Roman"/>
                <a:cs typeface="Times New Roman"/>
              </a:rPr>
              <a:t>Oracle</a:t>
            </a:r>
            <a:r>
              <a:rPr dirty="0" sz="3500" spc="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3500" spc="145">
                <a:solidFill>
                  <a:srgbClr val="2A2B2F"/>
                </a:solidFill>
                <a:latin typeface="Times New Roman"/>
                <a:cs typeface="Times New Roman"/>
              </a:rPr>
              <a:t>Forms,</a:t>
            </a:r>
            <a:r>
              <a:rPr dirty="0" sz="3500" spc="1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3500" spc="130">
                <a:solidFill>
                  <a:srgbClr val="2A2B2F"/>
                </a:solidFill>
                <a:latin typeface="Times New Roman"/>
                <a:cs typeface="Times New Roman"/>
              </a:rPr>
              <a:t>SR/SRW</a:t>
            </a:r>
            <a:r>
              <a:rPr dirty="0" sz="3500" spc="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3500" spc="150">
                <a:solidFill>
                  <a:srgbClr val="2A2B2F"/>
                </a:solidFill>
                <a:latin typeface="Times New Roman"/>
                <a:cs typeface="Times New Roman"/>
              </a:rPr>
              <a:t>Forms </a:t>
            </a:r>
            <a:r>
              <a:rPr dirty="0" sz="3500" spc="80">
                <a:solidFill>
                  <a:srgbClr val="2A2B2F"/>
                </a:solidFill>
                <a:latin typeface="Times New Roman"/>
                <a:cs typeface="Times New Roman"/>
              </a:rPr>
              <a:t>Development:</a:t>
            </a:r>
            <a:r>
              <a:rPr dirty="0" sz="3500" spc="1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3500" spc="180">
                <a:solidFill>
                  <a:srgbClr val="2A2B2F"/>
                </a:solidFill>
                <a:latin typeface="Times New Roman"/>
                <a:cs typeface="Times New Roman"/>
              </a:rPr>
              <a:t>PHP,</a:t>
            </a:r>
            <a:r>
              <a:rPr dirty="0" sz="3500" spc="1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3500" spc="225">
                <a:solidFill>
                  <a:srgbClr val="2A2B2F"/>
                </a:solidFill>
                <a:latin typeface="Times New Roman"/>
                <a:cs typeface="Times New Roman"/>
              </a:rPr>
              <a:t>HTML,</a:t>
            </a:r>
            <a:r>
              <a:rPr dirty="0" sz="3500" spc="1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3500" spc="70">
                <a:solidFill>
                  <a:srgbClr val="2A2B2F"/>
                </a:solidFill>
                <a:latin typeface="Times New Roman"/>
                <a:cs typeface="Times New Roman"/>
              </a:rPr>
              <a:t>plugin</a:t>
            </a:r>
            <a:r>
              <a:rPr dirty="0" sz="3500" spc="1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3500" spc="80">
                <a:solidFill>
                  <a:srgbClr val="2A2B2F"/>
                </a:solidFill>
                <a:latin typeface="Times New Roman"/>
                <a:cs typeface="Times New Roman"/>
              </a:rPr>
              <a:t>customization Others:</a:t>
            </a:r>
            <a:r>
              <a:rPr dirty="0" sz="350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3500" spc="180">
                <a:solidFill>
                  <a:srgbClr val="2A2B2F"/>
                </a:solidFill>
                <a:latin typeface="Times New Roman"/>
                <a:cs typeface="Times New Roman"/>
              </a:rPr>
              <a:t>ChatGPT,</a:t>
            </a:r>
            <a:r>
              <a:rPr dirty="0" sz="3500" spc="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3500" spc="60">
                <a:solidFill>
                  <a:srgbClr val="2A2B2F"/>
                </a:solidFill>
                <a:latin typeface="Times New Roman"/>
                <a:cs typeface="Times New Roman"/>
              </a:rPr>
              <a:t>testing</a:t>
            </a:r>
            <a:r>
              <a:rPr dirty="0" sz="350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3500" spc="70">
                <a:solidFill>
                  <a:srgbClr val="2A2B2F"/>
                </a:solidFill>
                <a:latin typeface="Times New Roman"/>
                <a:cs typeface="Times New Roman"/>
              </a:rPr>
              <a:t>tools</a:t>
            </a:r>
            <a:endParaRPr sz="3500">
              <a:latin typeface="Times New Roman"/>
              <a:cs typeface="Times New Roman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3729" y="6043327"/>
            <a:ext cx="4029074" cy="280034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94714" y="6929743"/>
            <a:ext cx="4924424" cy="1457324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12735130" y="2398086"/>
            <a:ext cx="3609975" cy="6850380"/>
            <a:chOff x="12735130" y="2398086"/>
            <a:chExt cx="3609975" cy="6850380"/>
          </a:xfrm>
        </p:grpSpPr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35130" y="5637983"/>
              <a:ext cx="3609974" cy="360997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920297" y="2398086"/>
              <a:ext cx="3238499" cy="3238499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85"/>
              <a:t>TECHNIQUES</a:t>
            </a:r>
            <a:r>
              <a:rPr dirty="0" spc="-355"/>
              <a:t> </a:t>
            </a:r>
            <a:r>
              <a:rPr dirty="0" spc="350"/>
              <a:t>AND</a:t>
            </a:r>
            <a:r>
              <a:rPr dirty="0" spc="-355"/>
              <a:t> </a:t>
            </a:r>
            <a:r>
              <a:rPr dirty="0" spc="245"/>
              <a:t>TOOLS</a:t>
            </a:r>
            <a:r>
              <a:rPr dirty="0" spc="-355"/>
              <a:t> </a:t>
            </a:r>
            <a:r>
              <a:rPr dirty="0" spc="325"/>
              <a:t>USED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8700" y="1484242"/>
            <a:ext cx="16230600" cy="0"/>
          </a:xfrm>
          <a:custGeom>
            <a:avLst/>
            <a:gdLst/>
            <a:ahLst/>
            <a:cxnLst/>
            <a:rect l="l" t="t" r="r" b="b"/>
            <a:pathLst>
              <a:path w="16230600" h="0">
                <a:moveTo>
                  <a:pt x="0" y="0"/>
                </a:moveTo>
                <a:lnTo>
                  <a:pt x="1623060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6352" y="1932560"/>
            <a:ext cx="11544299" cy="68865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6004" y="870826"/>
            <a:ext cx="6964680" cy="59182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081655" algn="l"/>
              </a:tabLst>
            </a:pPr>
            <a:r>
              <a:rPr dirty="0" sz="3700" spc="235"/>
              <a:t>P</a:t>
            </a:r>
            <a:r>
              <a:rPr dirty="0" sz="3700" spc="-275"/>
              <a:t> </a:t>
            </a:r>
            <a:r>
              <a:rPr dirty="0" sz="3700" spc="315"/>
              <a:t>R</a:t>
            </a:r>
            <a:r>
              <a:rPr dirty="0" sz="3700" spc="-270"/>
              <a:t> </a:t>
            </a:r>
            <a:r>
              <a:rPr dirty="0" sz="3700" spc="204"/>
              <a:t>O</a:t>
            </a:r>
            <a:r>
              <a:rPr dirty="0" sz="3700" spc="-275"/>
              <a:t> </a:t>
            </a:r>
            <a:r>
              <a:rPr dirty="0" sz="3700" spc="-495"/>
              <a:t>J</a:t>
            </a:r>
            <a:r>
              <a:rPr dirty="0" sz="3700" spc="-270"/>
              <a:t> </a:t>
            </a:r>
            <a:r>
              <a:rPr dirty="0" sz="3700" spc="250"/>
              <a:t>E</a:t>
            </a:r>
            <a:r>
              <a:rPr dirty="0" sz="3700" spc="-275"/>
              <a:t> </a:t>
            </a:r>
            <a:r>
              <a:rPr dirty="0" sz="3700" spc="380"/>
              <a:t>C</a:t>
            </a:r>
            <a:r>
              <a:rPr dirty="0" sz="3700" spc="-270"/>
              <a:t> </a:t>
            </a:r>
            <a:r>
              <a:rPr dirty="0" sz="3700" spc="-50"/>
              <a:t>T</a:t>
            </a:r>
            <a:r>
              <a:rPr dirty="0" sz="3700"/>
              <a:t>	</a:t>
            </a:r>
            <a:r>
              <a:rPr dirty="0" sz="3700" spc="675"/>
              <a:t>S</a:t>
            </a:r>
            <a:r>
              <a:rPr dirty="0" sz="3700" spc="-270"/>
              <a:t> </a:t>
            </a:r>
            <a:r>
              <a:rPr dirty="0" sz="3700" spc="420"/>
              <a:t>N</a:t>
            </a:r>
            <a:r>
              <a:rPr dirty="0" sz="3700" spc="-270"/>
              <a:t> </a:t>
            </a:r>
            <a:r>
              <a:rPr dirty="0" sz="3700" spc="350"/>
              <a:t>A</a:t>
            </a:r>
            <a:r>
              <a:rPr dirty="0" sz="3700" spc="-270"/>
              <a:t> </a:t>
            </a:r>
            <a:r>
              <a:rPr dirty="0" sz="3700" spc="235"/>
              <a:t>P</a:t>
            </a:r>
            <a:r>
              <a:rPr dirty="0" sz="3700" spc="-270"/>
              <a:t> </a:t>
            </a:r>
            <a:r>
              <a:rPr dirty="0" sz="3700" spc="675"/>
              <a:t>S</a:t>
            </a:r>
            <a:r>
              <a:rPr dirty="0" sz="3700" spc="-270"/>
              <a:t> </a:t>
            </a:r>
            <a:r>
              <a:rPr dirty="0" sz="3700" spc="325"/>
              <a:t>H</a:t>
            </a:r>
            <a:r>
              <a:rPr dirty="0" sz="3700" spc="-270"/>
              <a:t> </a:t>
            </a:r>
            <a:r>
              <a:rPr dirty="0" sz="3700" spc="204"/>
              <a:t>O</a:t>
            </a:r>
            <a:r>
              <a:rPr dirty="0" sz="3700" spc="-270"/>
              <a:t> </a:t>
            </a:r>
            <a:r>
              <a:rPr dirty="0" sz="3700"/>
              <a:t>T</a:t>
            </a:r>
            <a:r>
              <a:rPr dirty="0" sz="3700" spc="-270"/>
              <a:t> </a:t>
            </a:r>
            <a:r>
              <a:rPr dirty="0" sz="3700" spc="625"/>
              <a:t>S</a:t>
            </a:r>
            <a:endParaRPr sz="3700"/>
          </a:p>
        </p:txBody>
      </p:sp>
      <p:sp>
        <p:nvSpPr>
          <p:cNvPr id="5" name="object 5" descr=""/>
          <p:cNvSpPr txBox="1"/>
          <p:nvPr/>
        </p:nvSpPr>
        <p:spPr>
          <a:xfrm>
            <a:off x="5806246" y="8926862"/>
            <a:ext cx="482854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265" b="1" i="1">
                <a:solidFill>
                  <a:srgbClr val="2A2B2F"/>
                </a:solidFill>
                <a:latin typeface="Trebuchet MS"/>
                <a:cs typeface="Trebuchet MS"/>
              </a:rPr>
              <a:t>MANTIS</a:t>
            </a:r>
            <a:r>
              <a:rPr dirty="0" sz="3600" spc="-270" b="1" i="1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3600" spc="260" b="1" i="1">
                <a:solidFill>
                  <a:srgbClr val="2A2B2F"/>
                </a:solidFill>
                <a:latin typeface="Trebuchet MS"/>
                <a:cs typeface="Trebuchet MS"/>
              </a:rPr>
              <a:t>DASHBOARD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8700" y="1484242"/>
            <a:ext cx="16230600" cy="0"/>
          </a:xfrm>
          <a:custGeom>
            <a:avLst/>
            <a:gdLst/>
            <a:ahLst/>
            <a:cxnLst/>
            <a:rect l="l" t="t" r="r" b="b"/>
            <a:pathLst>
              <a:path w="16230600" h="0">
                <a:moveTo>
                  <a:pt x="0" y="0"/>
                </a:moveTo>
                <a:lnTo>
                  <a:pt x="1623060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8132" y="1850917"/>
            <a:ext cx="14573249" cy="81819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6004" y="870826"/>
            <a:ext cx="6964680" cy="59182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081655" algn="l"/>
              </a:tabLst>
            </a:pPr>
            <a:r>
              <a:rPr dirty="0" sz="3700" spc="235"/>
              <a:t>P</a:t>
            </a:r>
            <a:r>
              <a:rPr dirty="0" sz="3700" spc="-275"/>
              <a:t> </a:t>
            </a:r>
            <a:r>
              <a:rPr dirty="0" sz="3700" spc="315"/>
              <a:t>R</a:t>
            </a:r>
            <a:r>
              <a:rPr dirty="0" sz="3700" spc="-270"/>
              <a:t> </a:t>
            </a:r>
            <a:r>
              <a:rPr dirty="0" sz="3700" spc="204"/>
              <a:t>O</a:t>
            </a:r>
            <a:r>
              <a:rPr dirty="0" sz="3700" spc="-275"/>
              <a:t> </a:t>
            </a:r>
            <a:r>
              <a:rPr dirty="0" sz="3700" spc="-495"/>
              <a:t>J</a:t>
            </a:r>
            <a:r>
              <a:rPr dirty="0" sz="3700" spc="-270"/>
              <a:t> </a:t>
            </a:r>
            <a:r>
              <a:rPr dirty="0" sz="3700" spc="250"/>
              <a:t>E</a:t>
            </a:r>
            <a:r>
              <a:rPr dirty="0" sz="3700" spc="-275"/>
              <a:t> </a:t>
            </a:r>
            <a:r>
              <a:rPr dirty="0" sz="3700" spc="380"/>
              <a:t>C</a:t>
            </a:r>
            <a:r>
              <a:rPr dirty="0" sz="3700" spc="-270"/>
              <a:t> </a:t>
            </a:r>
            <a:r>
              <a:rPr dirty="0" sz="3700" spc="-50"/>
              <a:t>T</a:t>
            </a:r>
            <a:r>
              <a:rPr dirty="0" sz="3700"/>
              <a:t>	</a:t>
            </a:r>
            <a:r>
              <a:rPr dirty="0" sz="3700" spc="675"/>
              <a:t>S</a:t>
            </a:r>
            <a:r>
              <a:rPr dirty="0" sz="3700" spc="-270"/>
              <a:t> </a:t>
            </a:r>
            <a:r>
              <a:rPr dirty="0" sz="3700" spc="420"/>
              <a:t>N</a:t>
            </a:r>
            <a:r>
              <a:rPr dirty="0" sz="3700" spc="-270"/>
              <a:t> </a:t>
            </a:r>
            <a:r>
              <a:rPr dirty="0" sz="3700" spc="350"/>
              <a:t>A</a:t>
            </a:r>
            <a:r>
              <a:rPr dirty="0" sz="3700" spc="-270"/>
              <a:t> </a:t>
            </a:r>
            <a:r>
              <a:rPr dirty="0" sz="3700" spc="235"/>
              <a:t>P</a:t>
            </a:r>
            <a:r>
              <a:rPr dirty="0" sz="3700" spc="-270"/>
              <a:t> </a:t>
            </a:r>
            <a:r>
              <a:rPr dirty="0" sz="3700" spc="675"/>
              <a:t>S</a:t>
            </a:r>
            <a:r>
              <a:rPr dirty="0" sz="3700" spc="-270"/>
              <a:t> </a:t>
            </a:r>
            <a:r>
              <a:rPr dirty="0" sz="3700" spc="325"/>
              <a:t>H</a:t>
            </a:r>
            <a:r>
              <a:rPr dirty="0" sz="3700" spc="-270"/>
              <a:t> </a:t>
            </a:r>
            <a:r>
              <a:rPr dirty="0" sz="3700" spc="204"/>
              <a:t>O</a:t>
            </a:r>
            <a:r>
              <a:rPr dirty="0" sz="3700" spc="-270"/>
              <a:t> </a:t>
            </a:r>
            <a:r>
              <a:rPr dirty="0" sz="3700"/>
              <a:t>T</a:t>
            </a:r>
            <a:r>
              <a:rPr dirty="0" sz="3700" spc="-270"/>
              <a:t> </a:t>
            </a:r>
            <a:r>
              <a:rPr dirty="0" sz="3700" spc="625"/>
              <a:t>S</a:t>
            </a:r>
            <a:endParaRPr sz="3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8694" y="1760761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821" y="3603746"/>
            <a:ext cx="85725" cy="8572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821" y="4108571"/>
            <a:ext cx="85725" cy="8572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821" y="4613396"/>
            <a:ext cx="85725" cy="8572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821" y="6632695"/>
            <a:ext cx="85725" cy="8572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821" y="7137520"/>
            <a:ext cx="85725" cy="8572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821" y="7642345"/>
            <a:ext cx="85725" cy="8572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994171" y="2314732"/>
            <a:ext cx="12441555" cy="5544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50" spc="-380">
                <a:solidFill>
                  <a:srgbClr val="2A2B2F"/>
                </a:solidFill>
                <a:latin typeface="SimSun-ExtB"/>
                <a:cs typeface="SimSun-ExtB"/>
              </a:rPr>
              <a:t>⚙</a:t>
            </a:r>
            <a:r>
              <a:rPr dirty="0" sz="3150" spc="-869">
                <a:solidFill>
                  <a:srgbClr val="2A2B2F"/>
                </a:solidFill>
                <a:latin typeface="SimSun-ExtB"/>
                <a:cs typeface="SimSun-ExtB"/>
              </a:rPr>
              <a:t> </a:t>
            </a:r>
            <a:r>
              <a:rPr dirty="0" sz="2800" spc="50">
                <a:solidFill>
                  <a:srgbClr val="2A2B2F"/>
                </a:solidFill>
                <a:latin typeface="Times New Roman"/>
                <a:cs typeface="Times New Roman"/>
              </a:rPr>
              <a:t>Technical</a:t>
            </a:r>
            <a:r>
              <a:rPr dirty="0" sz="2800" spc="1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70">
                <a:solidFill>
                  <a:srgbClr val="2A2B2F"/>
                </a:solidFill>
                <a:latin typeface="Times New Roman"/>
                <a:cs typeface="Times New Roman"/>
              </a:rPr>
              <a:t>Learning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z="2800">
              <a:latin typeface="Times New Roman"/>
              <a:cs typeface="Times New Roman"/>
            </a:endParaRPr>
          </a:p>
          <a:p>
            <a:pPr marL="616585">
              <a:lnSpc>
                <a:spcPct val="100000"/>
              </a:lnSpc>
            </a:pPr>
            <a:r>
              <a:rPr dirty="0" sz="2800" spc="114">
                <a:solidFill>
                  <a:srgbClr val="2A2B2F"/>
                </a:solidFill>
                <a:latin typeface="Times New Roman"/>
                <a:cs typeface="Times New Roman"/>
              </a:rPr>
              <a:t>Understood</a:t>
            </a:r>
            <a:r>
              <a:rPr dirty="0" sz="2800" spc="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90">
                <a:solidFill>
                  <a:srgbClr val="2A2B2F"/>
                </a:solidFill>
                <a:latin typeface="Times New Roman"/>
                <a:cs typeface="Times New Roman"/>
              </a:rPr>
              <a:t>the</a:t>
            </a:r>
            <a:r>
              <a:rPr dirty="0" sz="2800" spc="2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complete</a:t>
            </a:r>
            <a:r>
              <a:rPr dirty="0" sz="2800" spc="2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90">
                <a:solidFill>
                  <a:srgbClr val="2A2B2F"/>
                </a:solidFill>
                <a:latin typeface="Times New Roman"/>
                <a:cs typeface="Times New Roman"/>
              </a:rPr>
              <a:t>bug</a:t>
            </a:r>
            <a:r>
              <a:rPr dirty="0" sz="2800" spc="2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lifecycle</a:t>
            </a:r>
            <a:r>
              <a:rPr dirty="0" sz="2800" spc="2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using</a:t>
            </a:r>
            <a:r>
              <a:rPr dirty="0" sz="2800" spc="2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90">
                <a:solidFill>
                  <a:srgbClr val="2A2B2F"/>
                </a:solidFill>
                <a:latin typeface="Times New Roman"/>
                <a:cs typeface="Times New Roman"/>
              </a:rPr>
              <a:t>MantisBT</a:t>
            </a:r>
            <a:endParaRPr sz="2800">
              <a:latin typeface="Times New Roman"/>
              <a:cs typeface="Times New Roman"/>
            </a:endParaRPr>
          </a:p>
          <a:p>
            <a:pPr marL="616585" marR="5080">
              <a:lnSpc>
                <a:spcPct val="118300"/>
              </a:lnSpc>
            </a:pPr>
            <a:r>
              <a:rPr dirty="0" sz="2800" spc="105">
                <a:solidFill>
                  <a:srgbClr val="2A2B2F"/>
                </a:solidFill>
                <a:latin typeface="Times New Roman"/>
                <a:cs typeface="Times New Roman"/>
              </a:rPr>
              <a:t>Gained</a:t>
            </a:r>
            <a:r>
              <a:rPr dirty="0" sz="2800" spc="4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85">
                <a:solidFill>
                  <a:srgbClr val="2A2B2F"/>
                </a:solidFill>
                <a:latin typeface="Times New Roman"/>
                <a:cs typeface="Times New Roman"/>
              </a:rPr>
              <a:t>hands-</a:t>
            </a:r>
            <a:r>
              <a:rPr dirty="0" sz="2800" spc="135">
                <a:solidFill>
                  <a:srgbClr val="2A2B2F"/>
                </a:solidFill>
                <a:latin typeface="Times New Roman"/>
                <a:cs typeface="Times New Roman"/>
              </a:rPr>
              <a:t>on</a:t>
            </a:r>
            <a:r>
              <a:rPr dirty="0" sz="2800" spc="5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experience</a:t>
            </a:r>
            <a:r>
              <a:rPr dirty="0" sz="2800" spc="5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in</a:t>
            </a:r>
            <a:r>
              <a:rPr dirty="0" sz="2800" spc="50">
                <a:solidFill>
                  <a:srgbClr val="2A2B2F"/>
                </a:solidFill>
                <a:latin typeface="Times New Roman"/>
                <a:cs typeface="Times New Roman"/>
              </a:rPr>
              <a:t> customizing </a:t>
            </a:r>
            <a:r>
              <a:rPr dirty="0" sz="2800" spc="75">
                <a:solidFill>
                  <a:srgbClr val="2A2B2F"/>
                </a:solidFill>
                <a:latin typeface="Times New Roman"/>
                <a:cs typeface="Times New Roman"/>
              </a:rPr>
              <a:t>open-</a:t>
            </a: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source</a:t>
            </a:r>
            <a:r>
              <a:rPr dirty="0" sz="2800" spc="4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75">
                <a:solidFill>
                  <a:srgbClr val="2A2B2F"/>
                </a:solidFill>
                <a:latin typeface="Times New Roman"/>
                <a:cs typeface="Times New Roman"/>
              </a:rPr>
              <a:t>tools</a:t>
            </a:r>
            <a:r>
              <a:rPr dirty="0" sz="2800" spc="5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05">
                <a:solidFill>
                  <a:srgbClr val="2A2B2F"/>
                </a:solidFill>
                <a:latin typeface="Times New Roman"/>
                <a:cs typeface="Times New Roman"/>
              </a:rPr>
              <a:t>(PHP,</a:t>
            </a:r>
            <a:r>
              <a:rPr dirty="0" sz="2800" spc="5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70">
                <a:solidFill>
                  <a:srgbClr val="2A2B2F"/>
                </a:solidFill>
                <a:latin typeface="Times New Roman"/>
                <a:cs typeface="Times New Roman"/>
              </a:rPr>
              <a:t>MySQL) </a:t>
            </a:r>
            <a:r>
              <a:rPr dirty="0" sz="2800" spc="80">
                <a:solidFill>
                  <a:srgbClr val="2A2B2F"/>
                </a:solidFill>
                <a:latin typeface="Times New Roman"/>
                <a:cs typeface="Times New Roman"/>
              </a:rPr>
              <a:t>Explored</a:t>
            </a:r>
            <a:r>
              <a:rPr dirty="0" sz="2800" spc="1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Oracle</a:t>
            </a:r>
            <a:r>
              <a:rPr dirty="0" sz="2800" spc="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80">
                <a:solidFill>
                  <a:srgbClr val="2A2B2F"/>
                </a:solidFill>
                <a:latin typeface="Times New Roman"/>
                <a:cs typeface="Times New Roman"/>
              </a:rPr>
              <a:t>ERP</a:t>
            </a:r>
            <a:r>
              <a:rPr dirty="0" sz="2800" spc="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65">
                <a:solidFill>
                  <a:srgbClr val="2A2B2F"/>
                </a:solidFill>
                <a:latin typeface="Times New Roman"/>
                <a:cs typeface="Times New Roman"/>
              </a:rPr>
              <a:t>modules</a:t>
            </a:r>
            <a:r>
              <a:rPr dirty="0" sz="2800" spc="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—</a:t>
            </a:r>
            <a:r>
              <a:rPr dirty="0" sz="2800" spc="1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specifically</a:t>
            </a:r>
            <a:r>
              <a:rPr dirty="0" sz="2800" spc="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20">
                <a:solidFill>
                  <a:srgbClr val="2A2B2F"/>
                </a:solidFill>
                <a:latin typeface="Times New Roman"/>
                <a:cs typeface="Times New Roman"/>
              </a:rPr>
              <a:t>SR</a:t>
            </a:r>
            <a:r>
              <a:rPr dirty="0" sz="2800" spc="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40">
                <a:solidFill>
                  <a:srgbClr val="2A2B2F"/>
                </a:solidFill>
                <a:latin typeface="Times New Roman"/>
                <a:cs typeface="Times New Roman"/>
              </a:rPr>
              <a:t>and</a:t>
            </a:r>
            <a:r>
              <a:rPr dirty="0" sz="2800" spc="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20">
                <a:solidFill>
                  <a:srgbClr val="2A2B2F"/>
                </a:solidFill>
                <a:latin typeface="Times New Roman"/>
                <a:cs typeface="Times New Roman"/>
              </a:rPr>
              <a:t>SRW</a:t>
            </a:r>
            <a:r>
              <a:rPr dirty="0" sz="2800" spc="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35">
                <a:solidFill>
                  <a:srgbClr val="2A2B2F"/>
                </a:solidFill>
                <a:latin typeface="Times New Roman"/>
                <a:cs typeface="Times New Roman"/>
              </a:rPr>
              <a:t>workflows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19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150" spc="2425">
                <a:solidFill>
                  <a:srgbClr val="2A2B2F"/>
                </a:solidFill>
                <a:latin typeface="Webdings"/>
                <a:cs typeface="Webdings"/>
              </a:rPr>
              <a:t>💼</a:t>
            </a:r>
            <a:r>
              <a:rPr dirty="0" sz="3150" spc="-7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Professional</a:t>
            </a:r>
            <a:r>
              <a:rPr dirty="0" sz="2800" spc="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20">
                <a:solidFill>
                  <a:srgbClr val="2A2B2F"/>
                </a:solidFill>
                <a:latin typeface="Times New Roman"/>
                <a:cs typeface="Times New Roman"/>
              </a:rPr>
              <a:t>Growth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z="2800">
              <a:latin typeface="Times New Roman"/>
              <a:cs typeface="Times New Roman"/>
            </a:endParaRPr>
          </a:p>
          <a:p>
            <a:pPr marL="616585">
              <a:lnSpc>
                <a:spcPct val="100000"/>
              </a:lnSpc>
            </a:pPr>
            <a:r>
              <a:rPr dirty="0" sz="2800" spc="95">
                <a:solidFill>
                  <a:srgbClr val="2A2B2F"/>
                </a:solidFill>
                <a:latin typeface="Times New Roman"/>
                <a:cs typeface="Times New Roman"/>
              </a:rPr>
              <a:t>Learned</a:t>
            </a:r>
            <a:r>
              <a:rPr dirty="0" sz="2800" spc="6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45">
                <a:solidFill>
                  <a:srgbClr val="2A2B2F"/>
                </a:solidFill>
                <a:latin typeface="Times New Roman"/>
                <a:cs typeface="Times New Roman"/>
              </a:rPr>
              <a:t>to</a:t>
            </a: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80">
                <a:solidFill>
                  <a:srgbClr val="2A2B2F"/>
                </a:solidFill>
                <a:latin typeface="Times New Roman"/>
                <a:cs typeface="Times New Roman"/>
              </a:rPr>
              <a:t>collaborate</a:t>
            </a: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60">
                <a:solidFill>
                  <a:srgbClr val="2A2B2F"/>
                </a:solidFill>
                <a:latin typeface="Times New Roman"/>
                <a:cs typeface="Times New Roman"/>
              </a:rPr>
              <a:t>with</a:t>
            </a: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cross-</a:t>
            </a:r>
            <a:r>
              <a:rPr dirty="0" sz="2800" spc="75">
                <a:solidFill>
                  <a:srgbClr val="2A2B2F"/>
                </a:solidFill>
                <a:latin typeface="Times New Roman"/>
                <a:cs typeface="Times New Roman"/>
              </a:rPr>
              <a:t>functional</a:t>
            </a: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65">
                <a:solidFill>
                  <a:srgbClr val="2A2B2F"/>
                </a:solidFill>
                <a:latin typeface="Times New Roman"/>
                <a:cs typeface="Times New Roman"/>
              </a:rPr>
              <a:t>teams</a:t>
            </a:r>
            <a:endParaRPr sz="2800">
              <a:latin typeface="Times New Roman"/>
              <a:cs typeface="Times New Roman"/>
            </a:endParaRPr>
          </a:p>
          <a:p>
            <a:pPr marL="616585" marR="2287270">
              <a:lnSpc>
                <a:spcPct val="118300"/>
              </a:lnSpc>
            </a:pPr>
            <a:r>
              <a:rPr dirty="0" sz="2800" spc="90">
                <a:solidFill>
                  <a:srgbClr val="2A2B2F"/>
                </a:solidFill>
                <a:latin typeface="Times New Roman"/>
                <a:cs typeface="Times New Roman"/>
              </a:rPr>
              <a:t>Improved</a:t>
            </a:r>
            <a:r>
              <a:rPr dirty="0" sz="2800" spc="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50">
                <a:solidFill>
                  <a:srgbClr val="2A2B2F"/>
                </a:solidFill>
                <a:latin typeface="Times New Roman"/>
                <a:cs typeface="Times New Roman"/>
              </a:rPr>
              <a:t>ability</a:t>
            </a:r>
            <a:r>
              <a:rPr dirty="0" sz="2800" spc="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45">
                <a:solidFill>
                  <a:srgbClr val="2A2B2F"/>
                </a:solidFill>
                <a:latin typeface="Times New Roman"/>
                <a:cs typeface="Times New Roman"/>
              </a:rPr>
              <a:t>to</a:t>
            </a:r>
            <a:r>
              <a:rPr dirty="0" sz="2800" spc="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analyze,</a:t>
            </a:r>
            <a:r>
              <a:rPr dirty="0" sz="2800" spc="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prioritize,</a:t>
            </a:r>
            <a:r>
              <a:rPr dirty="0" sz="2800" spc="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40">
                <a:solidFill>
                  <a:srgbClr val="2A2B2F"/>
                </a:solidFill>
                <a:latin typeface="Times New Roman"/>
                <a:cs typeface="Times New Roman"/>
              </a:rPr>
              <a:t>and</a:t>
            </a:r>
            <a:r>
              <a:rPr dirty="0" sz="2800" spc="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85">
                <a:solidFill>
                  <a:srgbClr val="2A2B2F"/>
                </a:solidFill>
                <a:latin typeface="Times New Roman"/>
                <a:cs typeface="Times New Roman"/>
              </a:rPr>
              <a:t>structure</a:t>
            </a:r>
            <a:r>
              <a:rPr dirty="0" sz="2800" spc="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issues</a:t>
            </a:r>
            <a:r>
              <a:rPr dirty="0" sz="2800" spc="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in</a:t>
            </a:r>
            <a:r>
              <a:rPr dirty="0" sz="2800" spc="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10">
                <a:solidFill>
                  <a:srgbClr val="2A2B2F"/>
                </a:solidFill>
                <a:latin typeface="Times New Roman"/>
                <a:cs typeface="Times New Roman"/>
              </a:rPr>
              <a:t>a 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live</a:t>
            </a:r>
            <a:r>
              <a:rPr dirty="0" sz="2800" spc="-2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enterprise</a:t>
            </a:r>
            <a:r>
              <a:rPr dirty="0" sz="2800" spc="-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65">
                <a:solidFill>
                  <a:srgbClr val="2A2B2F"/>
                </a:solidFill>
                <a:latin typeface="Times New Roman"/>
                <a:cs typeface="Times New Roman"/>
              </a:rPr>
              <a:t>environment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71597" y="4976235"/>
            <a:ext cx="4562474" cy="4286249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10"/>
              <a:t>PROFESSIONAL</a:t>
            </a:r>
            <a:r>
              <a:rPr dirty="0" spc="-340"/>
              <a:t> </a:t>
            </a:r>
            <a:r>
              <a:rPr dirty="0" spc="280"/>
              <a:t>&amp;</a:t>
            </a:r>
            <a:r>
              <a:rPr dirty="0" spc="-340"/>
              <a:t> </a:t>
            </a:r>
            <a:r>
              <a:rPr dirty="0" spc="260"/>
              <a:t>TECHNICAL</a:t>
            </a:r>
            <a:r>
              <a:rPr dirty="0" spc="-340"/>
              <a:t> </a:t>
            </a:r>
            <a:r>
              <a:rPr dirty="0" spc="275"/>
              <a:t>LEARNING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8694" y="1760761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1788" y="2041988"/>
            <a:ext cx="3619499" cy="795337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21513" y="1855818"/>
            <a:ext cx="3514724" cy="832484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41245" algn="l"/>
                <a:tab pos="6553834" algn="l"/>
                <a:tab pos="7502525" algn="l"/>
                <a:tab pos="9565005" algn="l"/>
              </a:tabLst>
            </a:pPr>
            <a:r>
              <a:rPr dirty="0" spc="110"/>
              <a:t>I</a:t>
            </a:r>
            <a:r>
              <a:rPr dirty="0" spc="-330"/>
              <a:t> </a:t>
            </a:r>
            <a:r>
              <a:rPr dirty="0" spc="715"/>
              <a:t>S</a:t>
            </a:r>
            <a:r>
              <a:rPr dirty="0" spc="-330"/>
              <a:t> </a:t>
            </a:r>
            <a:r>
              <a:rPr dirty="0" spc="715"/>
              <a:t>S</a:t>
            </a:r>
            <a:r>
              <a:rPr dirty="0" spc="-325"/>
              <a:t> </a:t>
            </a:r>
            <a:r>
              <a:rPr dirty="0" spc="160"/>
              <a:t>U</a:t>
            </a:r>
            <a:r>
              <a:rPr dirty="0" spc="-330"/>
              <a:t> </a:t>
            </a:r>
            <a:r>
              <a:rPr dirty="0" spc="200"/>
              <a:t>E</a:t>
            </a:r>
            <a:r>
              <a:rPr dirty="0"/>
              <a:t>	</a:t>
            </a:r>
            <a:r>
              <a:rPr dirty="0" spc="85"/>
              <a:t>L</a:t>
            </a:r>
            <a:r>
              <a:rPr dirty="0" spc="-330"/>
              <a:t> </a:t>
            </a:r>
            <a:r>
              <a:rPr dirty="0" spc="110"/>
              <a:t>I</a:t>
            </a:r>
            <a:r>
              <a:rPr dirty="0" spc="-330"/>
              <a:t> </a:t>
            </a:r>
            <a:r>
              <a:rPr dirty="0" spc="90"/>
              <a:t>F</a:t>
            </a:r>
            <a:r>
              <a:rPr dirty="0" spc="-325"/>
              <a:t> </a:t>
            </a:r>
            <a:r>
              <a:rPr dirty="0" spc="250"/>
              <a:t>E</a:t>
            </a:r>
            <a:r>
              <a:rPr dirty="0" spc="-330"/>
              <a:t> </a:t>
            </a:r>
            <a:r>
              <a:rPr dirty="0" spc="415"/>
              <a:t>C</a:t>
            </a:r>
            <a:r>
              <a:rPr dirty="0" spc="-325"/>
              <a:t> </a:t>
            </a:r>
            <a:r>
              <a:rPr dirty="0" spc="195"/>
              <a:t>Y</a:t>
            </a:r>
            <a:r>
              <a:rPr dirty="0" spc="-330"/>
              <a:t> </a:t>
            </a:r>
            <a:r>
              <a:rPr dirty="0" spc="415"/>
              <a:t>C</a:t>
            </a:r>
            <a:r>
              <a:rPr dirty="0" spc="-330"/>
              <a:t> </a:t>
            </a:r>
            <a:r>
              <a:rPr dirty="0" spc="85"/>
              <a:t>L</a:t>
            </a:r>
            <a:r>
              <a:rPr dirty="0" spc="-325"/>
              <a:t> </a:t>
            </a:r>
            <a:r>
              <a:rPr dirty="0" spc="200"/>
              <a:t>E</a:t>
            </a:r>
            <a:r>
              <a:rPr dirty="0"/>
              <a:t>	</a:t>
            </a:r>
            <a:r>
              <a:rPr dirty="0" spc="229"/>
              <a:t>&amp;</a:t>
            </a:r>
            <a:r>
              <a:rPr dirty="0"/>
              <a:t>	</a:t>
            </a:r>
            <a:r>
              <a:rPr dirty="0" spc="160"/>
              <a:t>U</a:t>
            </a:r>
            <a:r>
              <a:rPr dirty="0" spc="-330"/>
              <a:t> </a:t>
            </a:r>
            <a:r>
              <a:rPr dirty="0" spc="715"/>
              <a:t>S</a:t>
            </a:r>
            <a:r>
              <a:rPr dirty="0" spc="-330"/>
              <a:t> </a:t>
            </a:r>
            <a:r>
              <a:rPr dirty="0" spc="250"/>
              <a:t>E</a:t>
            </a:r>
            <a:r>
              <a:rPr dirty="0" spc="-325"/>
              <a:t> </a:t>
            </a:r>
            <a:r>
              <a:rPr dirty="0" spc="290"/>
              <a:t>R</a:t>
            </a:r>
            <a:r>
              <a:rPr dirty="0"/>
              <a:t>	</a:t>
            </a:r>
            <a:r>
              <a:rPr dirty="0" spc="325"/>
              <a:t>H</a:t>
            </a:r>
            <a:r>
              <a:rPr dirty="0" spc="-330"/>
              <a:t> </a:t>
            </a:r>
            <a:r>
              <a:rPr dirty="0" spc="110"/>
              <a:t>I</a:t>
            </a:r>
            <a:r>
              <a:rPr dirty="0" spc="-330"/>
              <a:t> </a:t>
            </a:r>
            <a:r>
              <a:rPr dirty="0" spc="250"/>
              <a:t>E</a:t>
            </a:r>
            <a:r>
              <a:rPr dirty="0" spc="-330"/>
              <a:t> </a:t>
            </a:r>
            <a:r>
              <a:rPr dirty="0" spc="340"/>
              <a:t>R</a:t>
            </a:r>
            <a:r>
              <a:rPr dirty="0" spc="-325"/>
              <a:t> </a:t>
            </a:r>
            <a:r>
              <a:rPr dirty="0" spc="355"/>
              <a:t>A</a:t>
            </a:r>
            <a:r>
              <a:rPr dirty="0" spc="-330"/>
              <a:t> </a:t>
            </a:r>
            <a:r>
              <a:rPr dirty="0" spc="340"/>
              <a:t>R</a:t>
            </a:r>
            <a:r>
              <a:rPr dirty="0" spc="-330"/>
              <a:t> </a:t>
            </a:r>
            <a:r>
              <a:rPr dirty="0" spc="415"/>
              <a:t>C</a:t>
            </a:r>
            <a:r>
              <a:rPr dirty="0" spc="-325"/>
              <a:t> </a:t>
            </a:r>
            <a:r>
              <a:rPr dirty="0" spc="325"/>
              <a:t>H</a:t>
            </a:r>
            <a:r>
              <a:rPr dirty="0" spc="-330"/>
              <a:t> </a:t>
            </a:r>
            <a:r>
              <a:rPr dirty="0" spc="145"/>
              <a:t>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8694" y="1760761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4033" y="5687383"/>
            <a:ext cx="6067424" cy="40481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60"/>
              <a:t>AUTO-</a:t>
            </a:r>
            <a:r>
              <a:rPr dirty="0" spc="254"/>
              <a:t>WATCHLIST</a:t>
            </a:r>
            <a:r>
              <a:rPr dirty="0" spc="-350"/>
              <a:t> </a:t>
            </a:r>
            <a:r>
              <a:rPr dirty="0" spc="215"/>
              <a:t>PLUGIN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8821" y="4096454"/>
            <a:ext cx="85725" cy="8572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8821" y="5106104"/>
            <a:ext cx="85725" cy="8572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994171" y="2809755"/>
            <a:ext cx="16256000" cy="30187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100" spc="2480">
                <a:solidFill>
                  <a:srgbClr val="2A2B2F"/>
                </a:solidFill>
                <a:latin typeface="Webdings"/>
                <a:cs typeface="Webdings"/>
              </a:rPr>
              <a:t>🔌</a:t>
            </a:r>
            <a:r>
              <a:rPr dirty="0" sz="3100" spc="-12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-50" b="1">
                <a:solidFill>
                  <a:srgbClr val="2A2B2F"/>
                </a:solidFill>
                <a:latin typeface="Times New Roman"/>
                <a:cs typeface="Times New Roman"/>
              </a:rPr>
              <a:t>Custom </a:t>
            </a:r>
            <a:r>
              <a:rPr dirty="0" sz="2800" spc="-55" b="1">
                <a:solidFill>
                  <a:srgbClr val="2A2B2F"/>
                </a:solidFill>
                <a:latin typeface="Times New Roman"/>
                <a:cs typeface="Times New Roman"/>
              </a:rPr>
              <a:t>Plugin:</a:t>
            </a:r>
            <a:r>
              <a:rPr dirty="0" sz="2800" spc="-45" b="1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-55" b="1">
                <a:solidFill>
                  <a:srgbClr val="2A2B2F"/>
                </a:solidFill>
                <a:latin typeface="Times New Roman"/>
                <a:cs typeface="Times New Roman"/>
              </a:rPr>
              <a:t>Auto-</a:t>
            </a:r>
            <a:r>
              <a:rPr dirty="0" sz="2800" spc="-10" b="1">
                <a:solidFill>
                  <a:srgbClr val="2A2B2F"/>
                </a:solidFill>
                <a:latin typeface="Times New Roman"/>
                <a:cs typeface="Times New Roman"/>
              </a:rPr>
              <a:t>Watchlist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2800">
              <a:latin typeface="Times New Roman"/>
              <a:cs typeface="Times New Roman"/>
            </a:endParaRPr>
          </a:p>
          <a:p>
            <a:pPr marL="616585" marR="5080">
              <a:lnSpc>
                <a:spcPct val="118300"/>
              </a:lnSpc>
              <a:tabLst>
                <a:tab pos="1948814" algn="l"/>
                <a:tab pos="2261870" algn="l"/>
                <a:tab pos="3356610" algn="l"/>
                <a:tab pos="4102735" algn="l"/>
                <a:tab pos="6316345" algn="l"/>
                <a:tab pos="7158990" algn="l"/>
                <a:tab pos="7664450" algn="l"/>
                <a:tab pos="8562975" algn="l"/>
                <a:tab pos="9991090" algn="l"/>
                <a:tab pos="10419080" algn="l"/>
                <a:tab pos="10928350" algn="l"/>
                <a:tab pos="11986260" algn="l"/>
                <a:tab pos="13329919" algn="l"/>
                <a:tab pos="14912975" algn="l"/>
              </a:tabLst>
            </a:pPr>
            <a:r>
              <a:rPr dirty="0" sz="2800" spc="85">
                <a:solidFill>
                  <a:srgbClr val="2A2B2F"/>
                </a:solidFill>
                <a:latin typeface="Times New Roman"/>
                <a:cs typeface="Times New Roman"/>
              </a:rPr>
              <a:t>Created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	</a:t>
            </a:r>
            <a:r>
              <a:rPr dirty="0" sz="2800" spc="110">
                <a:solidFill>
                  <a:srgbClr val="2A2B2F"/>
                </a:solidFill>
                <a:latin typeface="Times New Roman"/>
                <a:cs typeface="Times New Roman"/>
              </a:rPr>
              <a:t>a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	</a:t>
            </a:r>
            <a:r>
              <a:rPr dirty="0" sz="2800" spc="45">
                <a:solidFill>
                  <a:srgbClr val="2A2B2F"/>
                </a:solidFill>
                <a:latin typeface="Times New Roman"/>
                <a:cs typeface="Times New Roman"/>
              </a:rPr>
              <a:t>plugin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	</a:t>
            </a:r>
            <a:r>
              <a:rPr dirty="0" sz="2800" spc="130">
                <a:solidFill>
                  <a:srgbClr val="2A2B2F"/>
                </a:solidFill>
                <a:latin typeface="Times New Roman"/>
                <a:cs typeface="Times New Roman"/>
              </a:rPr>
              <a:t>that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	</a:t>
            </a:r>
            <a:r>
              <a:rPr dirty="0" sz="2800" spc="70">
                <a:solidFill>
                  <a:srgbClr val="2A2B2F"/>
                </a:solidFill>
                <a:latin typeface="Times New Roman"/>
                <a:cs typeface="Times New Roman"/>
              </a:rPr>
              <a:t>automatically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	</a:t>
            </a:r>
            <a:r>
              <a:rPr dirty="0" sz="2800" spc="80">
                <a:solidFill>
                  <a:srgbClr val="2A2B2F"/>
                </a:solidFill>
                <a:latin typeface="Times New Roman"/>
                <a:cs typeface="Times New Roman"/>
              </a:rPr>
              <a:t>adds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	</a:t>
            </a:r>
            <a:r>
              <a:rPr dirty="0" sz="2800" spc="-25">
                <a:solidFill>
                  <a:srgbClr val="2A2B2F"/>
                </a:solidFill>
                <a:latin typeface="Times New Roman"/>
                <a:cs typeface="Times New Roman"/>
              </a:rPr>
              <a:t>all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	</a:t>
            </a:r>
            <a:r>
              <a:rPr dirty="0" sz="2800" spc="-10">
                <a:solidFill>
                  <a:srgbClr val="2A2B2F"/>
                </a:solidFill>
                <a:latin typeface="Times New Roman"/>
                <a:cs typeface="Times New Roman"/>
              </a:rPr>
              <a:t>users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	</a:t>
            </a:r>
            <a:r>
              <a:rPr dirty="0" sz="2800" spc="-10">
                <a:solidFill>
                  <a:srgbClr val="2A2B2F"/>
                </a:solidFill>
                <a:latin typeface="Times New Roman"/>
                <a:cs typeface="Times New Roman"/>
              </a:rPr>
              <a:t>involved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	</a:t>
            </a:r>
            <a:r>
              <a:rPr dirty="0" sz="2800" spc="30">
                <a:solidFill>
                  <a:srgbClr val="2A2B2F"/>
                </a:solidFill>
                <a:latin typeface="Times New Roman"/>
                <a:cs typeface="Times New Roman"/>
              </a:rPr>
              <a:t>in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	</a:t>
            </a:r>
            <a:r>
              <a:rPr dirty="0" sz="2800" spc="120">
                <a:solidFill>
                  <a:srgbClr val="2A2B2F"/>
                </a:solidFill>
                <a:latin typeface="Times New Roman"/>
                <a:cs typeface="Times New Roman"/>
              </a:rPr>
              <a:t>an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	</a:t>
            </a:r>
            <a:r>
              <a:rPr dirty="0" sz="2800" spc="-10">
                <a:solidFill>
                  <a:srgbClr val="2A2B2F"/>
                </a:solidFill>
                <a:latin typeface="Times New Roman"/>
                <a:cs typeface="Times New Roman"/>
              </a:rPr>
              <a:t>issue's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	</a:t>
            </a:r>
            <a:r>
              <a:rPr dirty="0" sz="2800" spc="-10">
                <a:solidFill>
                  <a:srgbClr val="2A2B2F"/>
                </a:solidFill>
                <a:latin typeface="Times New Roman"/>
                <a:cs typeface="Times New Roman"/>
              </a:rPr>
              <a:t>lifecycle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	</a:t>
            </a:r>
            <a:r>
              <a:rPr dirty="0" sz="2800" spc="70">
                <a:solidFill>
                  <a:srgbClr val="2A2B2F"/>
                </a:solidFill>
                <a:latin typeface="Times New Roman"/>
                <a:cs typeface="Times New Roman"/>
              </a:rPr>
              <a:t>(reporter,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	</a:t>
            </a:r>
            <a:r>
              <a:rPr dirty="0" sz="2800" spc="-10">
                <a:solidFill>
                  <a:srgbClr val="2A2B2F"/>
                </a:solidFill>
                <a:latin typeface="Times New Roman"/>
                <a:cs typeface="Times New Roman"/>
              </a:rPr>
              <a:t>assignee, </a:t>
            </a:r>
            <a:r>
              <a:rPr dirty="0" sz="2800" spc="110">
                <a:solidFill>
                  <a:srgbClr val="2A2B2F"/>
                </a:solidFill>
                <a:latin typeface="Times New Roman"/>
                <a:cs typeface="Times New Roman"/>
              </a:rPr>
              <a:t>updater,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 etc.)</a:t>
            </a:r>
            <a:r>
              <a:rPr dirty="0" sz="2800" spc="1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45">
                <a:solidFill>
                  <a:srgbClr val="2A2B2F"/>
                </a:solidFill>
                <a:latin typeface="Times New Roman"/>
                <a:cs typeface="Times New Roman"/>
              </a:rPr>
              <a:t>to</a:t>
            </a:r>
            <a:r>
              <a:rPr dirty="0" sz="2800" spc="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90">
                <a:solidFill>
                  <a:srgbClr val="2A2B2F"/>
                </a:solidFill>
                <a:latin typeface="Times New Roman"/>
                <a:cs typeface="Times New Roman"/>
              </a:rPr>
              <a:t>the</a:t>
            </a:r>
            <a:r>
              <a:rPr dirty="0" sz="2800" spc="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issue’s </a:t>
            </a:r>
            <a:r>
              <a:rPr dirty="0" sz="2800" spc="45">
                <a:solidFill>
                  <a:srgbClr val="2A2B2F"/>
                </a:solidFill>
                <a:latin typeface="Times New Roman"/>
                <a:cs typeface="Times New Roman"/>
              </a:rPr>
              <a:t>watchlist.</a:t>
            </a:r>
            <a:endParaRPr sz="2800">
              <a:latin typeface="Times New Roman"/>
              <a:cs typeface="Times New Roman"/>
            </a:endParaRPr>
          </a:p>
          <a:p>
            <a:pPr marL="616585" marR="5080">
              <a:lnSpc>
                <a:spcPct val="118300"/>
              </a:lnSpc>
            </a:pPr>
            <a:r>
              <a:rPr dirty="0" sz="2800" spc="90">
                <a:solidFill>
                  <a:srgbClr val="2A2B2F"/>
                </a:solidFill>
                <a:latin typeface="Times New Roman"/>
                <a:cs typeface="Times New Roman"/>
              </a:rPr>
              <a:t>Used</a:t>
            </a:r>
            <a:r>
              <a:rPr dirty="0" sz="2800" spc="1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00">
                <a:solidFill>
                  <a:srgbClr val="2A2B2F"/>
                </a:solidFill>
                <a:latin typeface="Times New Roman"/>
                <a:cs typeface="Times New Roman"/>
              </a:rPr>
              <a:t>MantisBT</a:t>
            </a:r>
            <a:r>
              <a:rPr dirty="0" sz="2800" spc="1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plugin</a:t>
            </a:r>
            <a:r>
              <a:rPr dirty="0" sz="2800" spc="1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05">
                <a:solidFill>
                  <a:srgbClr val="2A2B2F"/>
                </a:solidFill>
                <a:latin typeface="Times New Roman"/>
                <a:cs typeface="Times New Roman"/>
              </a:rPr>
              <a:t>hooks</a:t>
            </a:r>
            <a:r>
              <a:rPr dirty="0" sz="2800" spc="1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40">
                <a:solidFill>
                  <a:srgbClr val="2A2B2F"/>
                </a:solidFill>
                <a:latin typeface="Times New Roman"/>
                <a:cs typeface="Times New Roman"/>
              </a:rPr>
              <a:t>and</a:t>
            </a:r>
            <a:r>
              <a:rPr dirty="0" sz="2800" spc="1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65">
                <a:solidFill>
                  <a:srgbClr val="2A2B2F"/>
                </a:solidFill>
                <a:latin typeface="Times New Roman"/>
                <a:cs typeface="Times New Roman"/>
              </a:rPr>
              <a:t>PHP</a:t>
            </a:r>
            <a:r>
              <a:rPr dirty="0" sz="2800" spc="13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50">
                <a:solidFill>
                  <a:srgbClr val="2A2B2F"/>
                </a:solidFill>
                <a:latin typeface="Times New Roman"/>
                <a:cs typeface="Times New Roman"/>
              </a:rPr>
              <a:t>scripting</a:t>
            </a:r>
            <a:r>
              <a:rPr dirty="0" sz="2800" spc="1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45">
                <a:solidFill>
                  <a:srgbClr val="2A2B2F"/>
                </a:solidFill>
                <a:latin typeface="Times New Roman"/>
                <a:cs typeface="Times New Roman"/>
              </a:rPr>
              <a:t>to</a:t>
            </a:r>
            <a:r>
              <a:rPr dirty="0" sz="2800" spc="1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50">
                <a:solidFill>
                  <a:srgbClr val="2A2B2F"/>
                </a:solidFill>
                <a:latin typeface="Times New Roman"/>
                <a:cs typeface="Times New Roman"/>
              </a:rPr>
              <a:t>dynamically</a:t>
            </a:r>
            <a:r>
              <a:rPr dirty="0" sz="2800" spc="1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10">
                <a:solidFill>
                  <a:srgbClr val="2A2B2F"/>
                </a:solidFill>
                <a:latin typeface="Times New Roman"/>
                <a:cs typeface="Times New Roman"/>
              </a:rPr>
              <a:t>track</a:t>
            </a:r>
            <a:r>
              <a:rPr dirty="0" sz="2800" spc="1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user</a:t>
            </a:r>
            <a:r>
              <a:rPr dirty="0" sz="2800" spc="1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roles</a:t>
            </a:r>
            <a:r>
              <a:rPr dirty="0" sz="2800" spc="13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40">
                <a:solidFill>
                  <a:srgbClr val="2A2B2F"/>
                </a:solidFill>
                <a:latin typeface="Times New Roman"/>
                <a:cs typeface="Times New Roman"/>
              </a:rPr>
              <a:t>and</a:t>
            </a:r>
            <a:r>
              <a:rPr dirty="0" sz="2800" spc="1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85">
                <a:solidFill>
                  <a:srgbClr val="2A2B2F"/>
                </a:solidFill>
                <a:latin typeface="Times New Roman"/>
                <a:cs typeface="Times New Roman"/>
              </a:rPr>
              <a:t>manage</a:t>
            </a:r>
            <a:r>
              <a:rPr dirty="0" sz="2800" spc="1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45">
                <a:solidFill>
                  <a:srgbClr val="2A2B2F"/>
                </a:solidFill>
                <a:latin typeface="Times New Roman"/>
                <a:cs typeface="Times New Roman"/>
              </a:rPr>
              <a:t>watchlist </a:t>
            </a:r>
            <a:r>
              <a:rPr dirty="0" sz="2800" spc="-10">
                <a:solidFill>
                  <a:srgbClr val="2A2B2F"/>
                </a:solidFill>
                <a:latin typeface="Times New Roman"/>
                <a:cs typeface="Times New Roman"/>
              </a:rPr>
              <a:t>logic.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8694" y="1760761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7124" y="5662376"/>
            <a:ext cx="6353174" cy="4152899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7761204" y="7275190"/>
            <a:ext cx="3148965" cy="926465"/>
          </a:xfrm>
          <a:custGeom>
            <a:avLst/>
            <a:gdLst/>
            <a:ahLst/>
            <a:cxnLst/>
            <a:rect l="l" t="t" r="r" b="b"/>
            <a:pathLst>
              <a:path w="3148965" h="926465">
                <a:moveTo>
                  <a:pt x="2390709" y="926441"/>
                </a:moveTo>
                <a:lnTo>
                  <a:pt x="2390709" y="547563"/>
                </a:lnTo>
                <a:lnTo>
                  <a:pt x="0" y="547563"/>
                </a:lnTo>
                <a:lnTo>
                  <a:pt x="0" y="378879"/>
                </a:lnTo>
                <a:lnTo>
                  <a:pt x="2390709" y="378879"/>
                </a:lnTo>
                <a:lnTo>
                  <a:pt x="2390709" y="0"/>
                </a:lnTo>
                <a:lnTo>
                  <a:pt x="3148455" y="463220"/>
                </a:lnTo>
                <a:lnTo>
                  <a:pt x="2390709" y="926441"/>
                </a:lnTo>
                <a:close/>
              </a:path>
            </a:pathLst>
          </a:custGeom>
          <a:solidFill>
            <a:srgbClr val="2A2B2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14550" y="5389751"/>
            <a:ext cx="5457824" cy="45243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8821" y="3591629"/>
            <a:ext cx="85725" cy="8572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8821" y="4096454"/>
            <a:ext cx="85725" cy="8572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8821" y="4601279"/>
            <a:ext cx="85725" cy="8572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994171" y="2333866"/>
            <a:ext cx="15707994" cy="2484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1764">
                <a:solidFill>
                  <a:srgbClr val="2A2B2F"/>
                </a:solidFill>
                <a:latin typeface="Courier New"/>
                <a:cs typeface="Courier New"/>
              </a:rPr>
              <a:t>🎨</a:t>
            </a:r>
            <a:r>
              <a:rPr dirty="0" sz="2900" spc="-1040">
                <a:solidFill>
                  <a:srgbClr val="2A2B2F"/>
                </a:solidFill>
                <a:latin typeface="Courier New"/>
                <a:cs typeface="Courier New"/>
              </a:rPr>
              <a:t> </a:t>
            </a:r>
            <a:r>
              <a:rPr dirty="0" sz="2800" spc="50" b="1">
                <a:solidFill>
                  <a:srgbClr val="2A2B2F"/>
                </a:solidFill>
                <a:latin typeface="Times New Roman"/>
                <a:cs typeface="Times New Roman"/>
              </a:rPr>
              <a:t>UI</a:t>
            </a:r>
            <a:r>
              <a:rPr dirty="0" sz="2800" b="1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2A2B2F"/>
                </a:solidFill>
                <a:latin typeface="Times New Roman"/>
                <a:cs typeface="Times New Roman"/>
              </a:rPr>
              <a:t>Enhancements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2800">
              <a:latin typeface="Times New Roman"/>
              <a:cs typeface="Times New Roman"/>
            </a:endParaRPr>
          </a:p>
          <a:p>
            <a:pPr marL="616585">
              <a:lnSpc>
                <a:spcPct val="100000"/>
              </a:lnSpc>
            </a:pP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Redesigned</a:t>
            </a:r>
            <a:r>
              <a:rPr dirty="0" sz="2800" spc="1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75">
                <a:solidFill>
                  <a:srgbClr val="2A2B2F"/>
                </a:solidFill>
                <a:latin typeface="Times New Roman"/>
                <a:cs typeface="Times New Roman"/>
              </a:rPr>
              <a:t>Login</a:t>
            </a:r>
            <a:r>
              <a:rPr dirty="0" sz="2800" spc="1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40">
                <a:solidFill>
                  <a:srgbClr val="2A2B2F"/>
                </a:solidFill>
                <a:latin typeface="Times New Roman"/>
                <a:cs typeface="Times New Roman"/>
              </a:rPr>
              <a:t>and</a:t>
            </a:r>
            <a:r>
              <a:rPr dirty="0" sz="2800" spc="1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Signup</a:t>
            </a:r>
            <a:r>
              <a:rPr dirty="0" sz="2800" spc="1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50">
                <a:solidFill>
                  <a:srgbClr val="2A2B2F"/>
                </a:solidFill>
                <a:latin typeface="Times New Roman"/>
                <a:cs typeface="Times New Roman"/>
              </a:rPr>
              <a:t>pages</a:t>
            </a:r>
            <a:r>
              <a:rPr dirty="0" sz="2800" spc="1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in</a:t>
            </a:r>
            <a:r>
              <a:rPr dirty="0" sz="2800" spc="1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10">
                <a:solidFill>
                  <a:srgbClr val="2A2B2F"/>
                </a:solidFill>
                <a:latin typeface="Times New Roman"/>
                <a:cs typeface="Times New Roman"/>
              </a:rPr>
              <a:t>Mantis</a:t>
            </a:r>
            <a:r>
              <a:rPr dirty="0" sz="2800" spc="1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60">
                <a:solidFill>
                  <a:srgbClr val="2A2B2F"/>
                </a:solidFill>
                <a:latin typeface="Times New Roman"/>
                <a:cs typeface="Times New Roman"/>
              </a:rPr>
              <a:t>with</a:t>
            </a:r>
            <a:r>
              <a:rPr dirty="0" sz="2800" spc="1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90">
                <a:solidFill>
                  <a:srgbClr val="2A2B2F"/>
                </a:solidFill>
                <a:latin typeface="Times New Roman"/>
                <a:cs typeface="Times New Roman"/>
              </a:rPr>
              <a:t>the</a:t>
            </a:r>
            <a:r>
              <a:rPr dirty="0" sz="2800" spc="1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75">
                <a:solidFill>
                  <a:srgbClr val="2A2B2F"/>
                </a:solidFill>
                <a:latin typeface="Times New Roman"/>
                <a:cs typeface="Times New Roman"/>
              </a:rPr>
              <a:t>required</a:t>
            </a:r>
            <a:r>
              <a:rPr dirty="0" sz="2800" spc="1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2A2B2F"/>
                </a:solidFill>
                <a:latin typeface="Times New Roman"/>
                <a:cs typeface="Times New Roman"/>
              </a:rPr>
              <a:t>design.</a:t>
            </a:r>
            <a:endParaRPr sz="2800">
              <a:latin typeface="Times New Roman"/>
              <a:cs typeface="Times New Roman"/>
            </a:endParaRPr>
          </a:p>
          <a:p>
            <a:pPr marL="616585" marR="5080">
              <a:lnSpc>
                <a:spcPct val="118300"/>
              </a:lnSpc>
              <a:spcBef>
                <a:spcPts val="5"/>
              </a:spcBef>
            </a:pPr>
            <a:r>
              <a:rPr dirty="0" sz="2800" spc="65">
                <a:solidFill>
                  <a:srgbClr val="2A2B2F"/>
                </a:solidFill>
                <a:latin typeface="Times New Roman"/>
                <a:cs typeface="Times New Roman"/>
              </a:rPr>
              <a:t>Applied</a:t>
            </a:r>
            <a:r>
              <a:rPr dirty="0" sz="2800" spc="2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65">
                <a:solidFill>
                  <a:srgbClr val="2A2B2F"/>
                </a:solidFill>
                <a:latin typeface="Times New Roman"/>
                <a:cs typeface="Times New Roman"/>
              </a:rPr>
              <a:t>improvements</a:t>
            </a:r>
            <a:r>
              <a:rPr dirty="0" sz="2800" spc="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in</a:t>
            </a:r>
            <a:r>
              <a:rPr dirty="0" sz="2800" spc="2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90">
                <a:solidFill>
                  <a:srgbClr val="2A2B2F"/>
                </a:solidFill>
                <a:latin typeface="Times New Roman"/>
                <a:cs typeface="Times New Roman"/>
              </a:rPr>
              <a:t>form</a:t>
            </a:r>
            <a:r>
              <a:rPr dirty="0" sz="2800" spc="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65">
                <a:solidFill>
                  <a:srgbClr val="2A2B2F"/>
                </a:solidFill>
                <a:latin typeface="Times New Roman"/>
                <a:cs typeface="Times New Roman"/>
              </a:rPr>
              <a:t>alignment,</a:t>
            </a:r>
            <a:r>
              <a:rPr dirty="0" sz="2800" spc="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45">
                <a:solidFill>
                  <a:srgbClr val="2A2B2F"/>
                </a:solidFill>
                <a:latin typeface="Times New Roman"/>
                <a:cs typeface="Times New Roman"/>
              </a:rPr>
              <a:t>responsive</a:t>
            </a:r>
            <a:r>
              <a:rPr dirty="0" sz="2800" spc="2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85">
                <a:solidFill>
                  <a:srgbClr val="2A2B2F"/>
                </a:solidFill>
                <a:latin typeface="Times New Roman"/>
                <a:cs typeface="Times New Roman"/>
              </a:rPr>
              <a:t>layout,</a:t>
            </a:r>
            <a:r>
              <a:rPr dirty="0" sz="2800" spc="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40">
                <a:solidFill>
                  <a:srgbClr val="2A2B2F"/>
                </a:solidFill>
                <a:latin typeface="Times New Roman"/>
                <a:cs typeface="Times New Roman"/>
              </a:rPr>
              <a:t>and</a:t>
            </a:r>
            <a:r>
              <a:rPr dirty="0" sz="2800" spc="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05">
                <a:solidFill>
                  <a:srgbClr val="2A2B2F"/>
                </a:solidFill>
                <a:latin typeface="Times New Roman"/>
                <a:cs typeface="Times New Roman"/>
              </a:rPr>
              <a:t>input</a:t>
            </a:r>
            <a:r>
              <a:rPr dirty="0" sz="2800" spc="2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50">
                <a:solidFill>
                  <a:srgbClr val="2A2B2F"/>
                </a:solidFill>
                <a:latin typeface="Times New Roman"/>
                <a:cs typeface="Times New Roman"/>
              </a:rPr>
              <a:t>clarity</a:t>
            </a:r>
            <a:r>
              <a:rPr dirty="0" sz="2800" spc="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using</a:t>
            </a:r>
            <a:r>
              <a:rPr dirty="0" sz="2800" spc="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204">
                <a:solidFill>
                  <a:srgbClr val="2A2B2F"/>
                </a:solidFill>
                <a:latin typeface="Times New Roman"/>
                <a:cs typeface="Times New Roman"/>
              </a:rPr>
              <a:t>HTML</a:t>
            </a:r>
            <a:r>
              <a:rPr dirty="0" sz="2800" spc="2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&amp;</a:t>
            </a:r>
            <a:r>
              <a:rPr dirty="0" sz="2800" spc="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-20">
                <a:solidFill>
                  <a:srgbClr val="2A2B2F"/>
                </a:solidFill>
                <a:latin typeface="Times New Roman"/>
                <a:cs typeface="Times New Roman"/>
              </a:rPr>
              <a:t>CSS. </a:t>
            </a:r>
            <a:r>
              <a:rPr dirty="0" sz="2800" spc="90">
                <a:solidFill>
                  <a:srgbClr val="2A2B2F"/>
                </a:solidFill>
                <a:latin typeface="Times New Roman"/>
                <a:cs typeface="Times New Roman"/>
              </a:rPr>
              <a:t>Focused</a:t>
            </a: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35">
                <a:solidFill>
                  <a:srgbClr val="2A2B2F"/>
                </a:solidFill>
                <a:latin typeface="Times New Roman"/>
                <a:cs typeface="Times New Roman"/>
              </a:rPr>
              <a:t>on</a:t>
            </a:r>
            <a:r>
              <a:rPr dirty="0" sz="2800" spc="6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80">
                <a:solidFill>
                  <a:srgbClr val="2A2B2F"/>
                </a:solidFill>
                <a:latin typeface="Times New Roman"/>
                <a:cs typeface="Times New Roman"/>
              </a:rPr>
              <a:t>making</a:t>
            </a:r>
            <a:r>
              <a:rPr dirty="0" sz="2800" spc="6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90">
                <a:solidFill>
                  <a:srgbClr val="2A2B2F"/>
                </a:solidFill>
                <a:latin typeface="Times New Roman"/>
                <a:cs typeface="Times New Roman"/>
              </a:rPr>
              <a:t>the</a:t>
            </a: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50">
                <a:solidFill>
                  <a:srgbClr val="2A2B2F"/>
                </a:solidFill>
                <a:latin typeface="Times New Roman"/>
                <a:cs typeface="Times New Roman"/>
              </a:rPr>
              <a:t>interface</a:t>
            </a:r>
            <a:r>
              <a:rPr dirty="0" sz="2800" spc="6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85">
                <a:solidFill>
                  <a:srgbClr val="2A2B2F"/>
                </a:solidFill>
                <a:latin typeface="Times New Roman"/>
                <a:cs typeface="Times New Roman"/>
              </a:rPr>
              <a:t>more</a:t>
            </a:r>
            <a:r>
              <a:rPr dirty="0" sz="2800" spc="6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accessible</a:t>
            </a: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40">
                <a:solidFill>
                  <a:srgbClr val="2A2B2F"/>
                </a:solidFill>
                <a:latin typeface="Times New Roman"/>
                <a:cs typeface="Times New Roman"/>
              </a:rPr>
              <a:t>and</a:t>
            </a:r>
            <a:r>
              <a:rPr dirty="0" sz="2800" spc="6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user-</a:t>
            </a:r>
            <a:r>
              <a:rPr dirty="0" sz="2800" spc="-10">
                <a:solidFill>
                  <a:srgbClr val="2A2B2F"/>
                </a:solidFill>
                <a:latin typeface="Times New Roman"/>
                <a:cs typeface="Times New Roman"/>
              </a:rPr>
              <a:t>friendly.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30"/>
              <a:t>UI</a:t>
            </a:r>
            <a:r>
              <a:rPr dirty="0" spc="-355"/>
              <a:t> </a:t>
            </a:r>
            <a:r>
              <a:rPr dirty="0" spc="335"/>
              <a:t>IMPROVEMENTS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8694" y="1760761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65"/>
              <a:t>KEY</a:t>
            </a:r>
            <a:r>
              <a:rPr dirty="0" spc="-350"/>
              <a:t> </a:t>
            </a:r>
            <a:r>
              <a:rPr dirty="0" spc="250"/>
              <a:t>HIGHLIGHTS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821" y="3163766"/>
            <a:ext cx="85725" cy="8572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821" y="4906841"/>
            <a:ext cx="85725" cy="8572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821" y="6649916"/>
            <a:ext cx="85725" cy="8572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821" y="8392990"/>
            <a:ext cx="85725" cy="8572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994171" y="2139741"/>
            <a:ext cx="13056869" cy="6470650"/>
          </a:xfrm>
          <a:prstGeom prst="rect">
            <a:avLst/>
          </a:prstGeom>
        </p:spPr>
        <p:txBody>
          <a:bodyPr wrap="square" lIns="0" tIns="175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dirty="0" sz="3150" spc="-380">
                <a:solidFill>
                  <a:srgbClr val="2A2B2F"/>
                </a:solidFill>
                <a:latin typeface="SimSun-ExtB"/>
                <a:cs typeface="SimSun-ExtB"/>
              </a:rPr>
              <a:t>✅</a:t>
            </a:r>
            <a:r>
              <a:rPr dirty="0" sz="3150" spc="-875">
                <a:solidFill>
                  <a:srgbClr val="2A2B2F"/>
                </a:solidFill>
                <a:latin typeface="SimSun-ExtB"/>
                <a:cs typeface="SimSun-ExtB"/>
              </a:rPr>
              <a:t> </a:t>
            </a:r>
            <a:r>
              <a:rPr dirty="0" sz="2800" spc="-55" b="1">
                <a:solidFill>
                  <a:srgbClr val="2A2B2F"/>
                </a:solidFill>
                <a:latin typeface="Times New Roman"/>
                <a:cs typeface="Times New Roman"/>
              </a:rPr>
              <a:t>Hands-</a:t>
            </a:r>
            <a:r>
              <a:rPr dirty="0" sz="2800" spc="-10" b="1">
                <a:solidFill>
                  <a:srgbClr val="2A2B2F"/>
                </a:solidFill>
                <a:latin typeface="Times New Roman"/>
                <a:cs typeface="Times New Roman"/>
              </a:rPr>
              <a:t>on</a:t>
            </a:r>
            <a:r>
              <a:rPr dirty="0" sz="2800" spc="-165" b="1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-40" b="1">
                <a:solidFill>
                  <a:srgbClr val="2A2B2F"/>
                </a:solidFill>
                <a:latin typeface="Times New Roman"/>
                <a:cs typeface="Times New Roman"/>
              </a:rPr>
              <a:t>Experience</a:t>
            </a:r>
            <a:r>
              <a:rPr dirty="0" sz="2800" spc="-105" b="1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-70" b="1">
                <a:solidFill>
                  <a:srgbClr val="2A2B2F"/>
                </a:solidFill>
                <a:latin typeface="Times New Roman"/>
                <a:cs typeface="Times New Roman"/>
              </a:rPr>
              <a:t>with</a:t>
            </a:r>
            <a:r>
              <a:rPr dirty="0" sz="2800" spc="-95" b="1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2A2B2F"/>
                </a:solidFill>
                <a:latin typeface="Times New Roman"/>
                <a:cs typeface="Times New Roman"/>
              </a:rPr>
              <a:t>Mantis</a:t>
            </a:r>
            <a:r>
              <a:rPr dirty="0" sz="2800" spc="-90" b="1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2A2B2F"/>
                </a:solidFill>
                <a:latin typeface="Times New Roman"/>
                <a:cs typeface="Times New Roman"/>
              </a:rPr>
              <a:t>Bug</a:t>
            </a:r>
            <a:r>
              <a:rPr dirty="0" sz="2800" spc="-90" b="1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2A2B2F"/>
                </a:solidFill>
                <a:latin typeface="Times New Roman"/>
                <a:cs typeface="Times New Roman"/>
              </a:rPr>
              <a:t>Tracker</a:t>
            </a:r>
            <a:endParaRPr sz="2800">
              <a:latin typeface="Times New Roman"/>
              <a:cs typeface="Times New Roman"/>
            </a:endParaRPr>
          </a:p>
          <a:p>
            <a:pPr marL="616585">
              <a:lnSpc>
                <a:spcPct val="100000"/>
              </a:lnSpc>
              <a:spcBef>
                <a:spcPts val="1145"/>
              </a:spcBef>
            </a:pPr>
            <a:r>
              <a:rPr dirty="0" sz="2800" spc="114">
                <a:solidFill>
                  <a:srgbClr val="2A2B2F"/>
                </a:solidFill>
                <a:latin typeface="Times New Roman"/>
                <a:cs typeface="Times New Roman"/>
              </a:rPr>
              <a:t>Managed</a:t>
            </a:r>
            <a:r>
              <a:rPr dirty="0" sz="2800" spc="2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real-</a:t>
            </a: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time</a:t>
            </a:r>
            <a:r>
              <a:rPr dirty="0" sz="2800" spc="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issue</a:t>
            </a:r>
            <a:r>
              <a:rPr dirty="0" sz="2800" spc="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lifecycle</a:t>
            </a:r>
            <a:r>
              <a:rPr dirty="0" sz="2800" spc="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40">
                <a:solidFill>
                  <a:srgbClr val="2A2B2F"/>
                </a:solidFill>
                <a:latin typeface="Times New Roman"/>
                <a:cs typeface="Times New Roman"/>
              </a:rPr>
              <a:t>and</a:t>
            </a:r>
            <a:r>
              <a:rPr dirty="0" sz="2800" spc="2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60">
                <a:solidFill>
                  <a:srgbClr val="2A2B2F"/>
                </a:solidFill>
                <a:latin typeface="Times New Roman"/>
                <a:cs typeface="Times New Roman"/>
              </a:rPr>
              <a:t>implemented</a:t>
            </a:r>
            <a:r>
              <a:rPr dirty="0" sz="2800" spc="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60">
                <a:solidFill>
                  <a:srgbClr val="2A2B2F"/>
                </a:solidFill>
                <a:latin typeface="Times New Roman"/>
                <a:cs typeface="Times New Roman"/>
              </a:rPr>
              <a:t>a</a:t>
            </a:r>
            <a:r>
              <a:rPr dirty="0" sz="2800" spc="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80">
                <a:solidFill>
                  <a:srgbClr val="2A2B2F"/>
                </a:solidFill>
                <a:latin typeface="Times New Roman"/>
                <a:cs typeface="Times New Roman"/>
              </a:rPr>
              <a:t>custom</a:t>
            </a:r>
            <a:r>
              <a:rPr dirty="0" sz="2800" spc="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10">
                <a:solidFill>
                  <a:srgbClr val="2A2B2F"/>
                </a:solidFill>
                <a:latin typeface="Times New Roman"/>
                <a:cs typeface="Times New Roman"/>
              </a:rPr>
              <a:t>auto-</a:t>
            </a: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watchlist</a:t>
            </a:r>
            <a:r>
              <a:rPr dirty="0" sz="2800" spc="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45">
                <a:solidFill>
                  <a:srgbClr val="2A2B2F"/>
                </a:solidFill>
                <a:latin typeface="Times New Roman"/>
                <a:cs typeface="Times New Roman"/>
              </a:rPr>
              <a:t>plugin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20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150" spc="-380">
                <a:solidFill>
                  <a:srgbClr val="2A2B2F"/>
                </a:solidFill>
                <a:latin typeface="SimSun-ExtB"/>
                <a:cs typeface="SimSun-ExtB"/>
              </a:rPr>
              <a:t>✅</a:t>
            </a:r>
            <a:r>
              <a:rPr dirty="0" sz="3150" spc="-875">
                <a:solidFill>
                  <a:srgbClr val="2A2B2F"/>
                </a:solidFill>
                <a:latin typeface="SimSun-ExtB"/>
                <a:cs typeface="SimSun-ExtB"/>
              </a:rPr>
              <a:t> </a:t>
            </a:r>
            <a:r>
              <a:rPr dirty="0" sz="2800" spc="50" b="1">
                <a:solidFill>
                  <a:srgbClr val="2A2B2F"/>
                </a:solidFill>
                <a:latin typeface="Times New Roman"/>
                <a:cs typeface="Times New Roman"/>
              </a:rPr>
              <a:t>UI</a:t>
            </a:r>
            <a:r>
              <a:rPr dirty="0" sz="2800" spc="-125" b="1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-75" b="1">
                <a:solidFill>
                  <a:srgbClr val="2A2B2F"/>
                </a:solidFill>
                <a:latin typeface="Times New Roman"/>
                <a:cs typeface="Times New Roman"/>
              </a:rPr>
              <a:t>Enhancements</a:t>
            </a:r>
            <a:r>
              <a:rPr dirty="0" sz="2800" spc="-65" b="1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-30" b="1">
                <a:solidFill>
                  <a:srgbClr val="2A2B2F"/>
                </a:solidFill>
                <a:latin typeface="Times New Roman"/>
                <a:cs typeface="Times New Roman"/>
              </a:rPr>
              <a:t>in</a:t>
            </a:r>
            <a:r>
              <a:rPr dirty="0" sz="2800" spc="-65" b="1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2A2B2F"/>
                </a:solidFill>
                <a:latin typeface="Times New Roman"/>
                <a:cs typeface="Times New Roman"/>
              </a:rPr>
              <a:t>a</a:t>
            </a:r>
            <a:r>
              <a:rPr dirty="0" sz="2800" spc="-65" b="1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-20" b="1">
                <a:solidFill>
                  <a:srgbClr val="2A2B2F"/>
                </a:solidFill>
                <a:latin typeface="Times New Roman"/>
                <a:cs typeface="Times New Roman"/>
              </a:rPr>
              <a:t>Live</a:t>
            </a:r>
            <a:r>
              <a:rPr dirty="0" sz="2800" spc="-65" b="1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2A2B2F"/>
                </a:solidFill>
                <a:latin typeface="Times New Roman"/>
                <a:cs typeface="Times New Roman"/>
              </a:rPr>
              <a:t>System</a:t>
            </a:r>
            <a:endParaRPr sz="2800">
              <a:latin typeface="Times New Roman"/>
              <a:cs typeface="Times New Roman"/>
            </a:endParaRPr>
          </a:p>
          <a:p>
            <a:pPr marL="616585">
              <a:lnSpc>
                <a:spcPct val="100000"/>
              </a:lnSpc>
              <a:spcBef>
                <a:spcPts val="1145"/>
              </a:spcBef>
            </a:pPr>
            <a:r>
              <a:rPr dirty="0" sz="2800" spc="90">
                <a:solidFill>
                  <a:srgbClr val="2A2B2F"/>
                </a:solidFill>
                <a:latin typeface="Times New Roman"/>
                <a:cs typeface="Times New Roman"/>
              </a:rPr>
              <a:t>Improved</a:t>
            </a:r>
            <a:r>
              <a:rPr dirty="0" sz="2800" spc="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login</a:t>
            </a:r>
            <a:r>
              <a:rPr dirty="0" sz="2800" spc="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40">
                <a:solidFill>
                  <a:srgbClr val="2A2B2F"/>
                </a:solidFill>
                <a:latin typeface="Times New Roman"/>
                <a:cs typeface="Times New Roman"/>
              </a:rPr>
              <a:t>and</a:t>
            </a:r>
            <a:r>
              <a:rPr dirty="0" sz="2800" spc="3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60">
                <a:solidFill>
                  <a:srgbClr val="2A2B2F"/>
                </a:solidFill>
                <a:latin typeface="Times New Roman"/>
                <a:cs typeface="Times New Roman"/>
              </a:rPr>
              <a:t>signup</a:t>
            </a:r>
            <a:r>
              <a:rPr dirty="0" sz="2800" spc="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50">
                <a:solidFill>
                  <a:srgbClr val="2A2B2F"/>
                </a:solidFill>
                <a:latin typeface="Times New Roman"/>
                <a:cs typeface="Times New Roman"/>
              </a:rPr>
              <a:t>pages</a:t>
            </a:r>
            <a:r>
              <a:rPr dirty="0" sz="2800" spc="3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85">
                <a:solidFill>
                  <a:srgbClr val="2A2B2F"/>
                </a:solidFill>
                <a:latin typeface="Times New Roman"/>
                <a:cs typeface="Times New Roman"/>
              </a:rPr>
              <a:t>for</a:t>
            </a:r>
            <a:r>
              <a:rPr dirty="0" sz="2800" spc="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90">
                <a:solidFill>
                  <a:srgbClr val="2A2B2F"/>
                </a:solidFill>
                <a:latin typeface="Times New Roman"/>
                <a:cs typeface="Times New Roman"/>
              </a:rPr>
              <a:t>better</a:t>
            </a:r>
            <a:r>
              <a:rPr dirty="0" sz="2800" spc="3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usability</a:t>
            </a:r>
            <a:r>
              <a:rPr dirty="0" sz="2800" spc="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40">
                <a:solidFill>
                  <a:srgbClr val="2A2B2F"/>
                </a:solidFill>
                <a:latin typeface="Times New Roman"/>
                <a:cs typeface="Times New Roman"/>
              </a:rPr>
              <a:t>and</a:t>
            </a:r>
            <a:r>
              <a:rPr dirty="0" sz="2800" spc="3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2A2B2F"/>
                </a:solidFill>
                <a:latin typeface="Times New Roman"/>
                <a:cs typeface="Times New Roman"/>
              </a:rPr>
              <a:t>accessibility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20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150" spc="-380">
                <a:solidFill>
                  <a:srgbClr val="2A2B2F"/>
                </a:solidFill>
                <a:latin typeface="SimSun-ExtB"/>
                <a:cs typeface="SimSun-ExtB"/>
              </a:rPr>
              <a:t>✅</a:t>
            </a:r>
            <a:r>
              <a:rPr dirty="0" sz="3150" spc="-875">
                <a:solidFill>
                  <a:srgbClr val="2A2B2F"/>
                </a:solidFill>
                <a:latin typeface="SimSun-ExtB"/>
                <a:cs typeface="SimSun-ExtB"/>
              </a:rPr>
              <a:t> </a:t>
            </a:r>
            <a:r>
              <a:rPr dirty="0" sz="2800" spc="-60" b="1">
                <a:solidFill>
                  <a:srgbClr val="2A2B2F"/>
                </a:solidFill>
                <a:latin typeface="Times New Roman"/>
                <a:cs typeface="Times New Roman"/>
              </a:rPr>
              <a:t>Worked</a:t>
            </a:r>
            <a:r>
              <a:rPr dirty="0" sz="2800" spc="-114" b="1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2A2B2F"/>
                </a:solidFill>
                <a:latin typeface="Times New Roman"/>
                <a:cs typeface="Times New Roman"/>
              </a:rPr>
              <a:t>on</a:t>
            </a:r>
            <a:r>
              <a:rPr dirty="0" sz="2800" spc="-60" b="1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2A2B2F"/>
                </a:solidFill>
                <a:latin typeface="Times New Roman"/>
                <a:cs typeface="Times New Roman"/>
              </a:rPr>
              <a:t>Oracle</a:t>
            </a:r>
            <a:r>
              <a:rPr dirty="0" sz="2800" spc="-60" b="1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2A2B2F"/>
                </a:solidFill>
                <a:latin typeface="Times New Roman"/>
                <a:cs typeface="Times New Roman"/>
              </a:rPr>
              <a:t>ERP</a:t>
            </a:r>
            <a:r>
              <a:rPr dirty="0" sz="2800" spc="-60" b="1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-25" b="1">
                <a:solidFill>
                  <a:srgbClr val="2A2B2F"/>
                </a:solidFill>
                <a:latin typeface="Times New Roman"/>
                <a:cs typeface="Times New Roman"/>
              </a:rPr>
              <a:t>Modules</a:t>
            </a:r>
            <a:r>
              <a:rPr dirty="0" sz="2800" spc="-60" b="1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2A2B2F"/>
                </a:solidFill>
                <a:latin typeface="Times New Roman"/>
                <a:cs typeface="Times New Roman"/>
              </a:rPr>
              <a:t>(SR/SRW)</a:t>
            </a:r>
            <a:endParaRPr sz="2800">
              <a:latin typeface="Times New Roman"/>
              <a:cs typeface="Times New Roman"/>
            </a:endParaRPr>
          </a:p>
          <a:p>
            <a:pPr marL="616585">
              <a:lnSpc>
                <a:spcPct val="100000"/>
              </a:lnSpc>
              <a:spcBef>
                <a:spcPts val="1145"/>
              </a:spcBef>
            </a:pPr>
            <a:r>
              <a:rPr dirty="0" sz="2800" spc="114">
                <a:solidFill>
                  <a:srgbClr val="2A2B2F"/>
                </a:solidFill>
                <a:latin typeface="Times New Roman"/>
                <a:cs typeface="Times New Roman"/>
              </a:rPr>
              <a:t>Understood</a:t>
            </a:r>
            <a:r>
              <a:rPr dirty="0" sz="2800" spc="1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40">
                <a:solidFill>
                  <a:srgbClr val="2A2B2F"/>
                </a:solidFill>
                <a:latin typeface="Times New Roman"/>
                <a:cs typeface="Times New Roman"/>
              </a:rPr>
              <a:t>and</a:t>
            </a:r>
            <a:r>
              <a:rPr dirty="0" sz="2800" spc="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00">
                <a:solidFill>
                  <a:srgbClr val="2A2B2F"/>
                </a:solidFill>
                <a:latin typeface="Times New Roman"/>
                <a:cs typeface="Times New Roman"/>
              </a:rPr>
              <a:t>supported</a:t>
            </a:r>
            <a:r>
              <a:rPr dirty="0" sz="2800" spc="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60">
                <a:solidFill>
                  <a:srgbClr val="2A2B2F"/>
                </a:solidFill>
                <a:latin typeface="Times New Roman"/>
                <a:cs typeface="Times New Roman"/>
              </a:rPr>
              <a:t>real</a:t>
            </a:r>
            <a:r>
              <a:rPr dirty="0" sz="2800" spc="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45">
                <a:solidFill>
                  <a:srgbClr val="2A2B2F"/>
                </a:solidFill>
                <a:latin typeface="Times New Roman"/>
                <a:cs typeface="Times New Roman"/>
              </a:rPr>
              <a:t>workflows</a:t>
            </a:r>
            <a:r>
              <a:rPr dirty="0" sz="2800" spc="1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in</a:t>
            </a:r>
            <a:r>
              <a:rPr dirty="0" sz="2800" spc="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70">
                <a:solidFill>
                  <a:srgbClr val="2A2B2F"/>
                </a:solidFill>
                <a:latin typeface="Times New Roman"/>
                <a:cs typeface="Times New Roman"/>
              </a:rPr>
              <a:t>inventory</a:t>
            </a:r>
            <a:r>
              <a:rPr dirty="0" sz="2800" spc="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80">
                <a:solidFill>
                  <a:srgbClr val="2A2B2F"/>
                </a:solidFill>
                <a:latin typeface="Times New Roman"/>
                <a:cs typeface="Times New Roman"/>
              </a:rPr>
              <a:t>management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20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3150" spc="-380">
                <a:solidFill>
                  <a:srgbClr val="2A2B2F"/>
                </a:solidFill>
                <a:latin typeface="SimSun-ExtB"/>
                <a:cs typeface="SimSun-ExtB"/>
              </a:rPr>
              <a:t>✅</a:t>
            </a:r>
            <a:r>
              <a:rPr dirty="0" sz="3150" spc="-875">
                <a:solidFill>
                  <a:srgbClr val="2A2B2F"/>
                </a:solidFill>
                <a:latin typeface="SimSun-ExtB"/>
                <a:cs typeface="SimSun-ExtB"/>
              </a:rPr>
              <a:t> </a:t>
            </a:r>
            <a:r>
              <a:rPr dirty="0" sz="2800" spc="-40" b="1">
                <a:solidFill>
                  <a:srgbClr val="2A2B2F"/>
                </a:solidFill>
                <a:latin typeface="Times New Roman"/>
                <a:cs typeface="Times New Roman"/>
              </a:rPr>
              <a:t>Technical</a:t>
            </a:r>
            <a:r>
              <a:rPr dirty="0" sz="2800" spc="-110" b="1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2A2B2F"/>
                </a:solidFill>
                <a:latin typeface="Times New Roman"/>
                <a:cs typeface="Times New Roman"/>
              </a:rPr>
              <a:t>Exposure</a:t>
            </a:r>
            <a:endParaRPr sz="2800">
              <a:latin typeface="Times New Roman"/>
              <a:cs typeface="Times New Roman"/>
            </a:endParaRPr>
          </a:p>
          <a:p>
            <a:pPr marL="616585">
              <a:lnSpc>
                <a:spcPct val="100000"/>
              </a:lnSpc>
              <a:spcBef>
                <a:spcPts val="1145"/>
              </a:spcBef>
            </a:pPr>
            <a:r>
              <a:rPr dirty="0" sz="2800" spc="135">
                <a:solidFill>
                  <a:srgbClr val="2A2B2F"/>
                </a:solidFill>
                <a:latin typeface="Times New Roman"/>
                <a:cs typeface="Times New Roman"/>
              </a:rPr>
              <a:t>PHP,</a:t>
            </a:r>
            <a:r>
              <a:rPr dirty="0" sz="2800" spc="3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90">
                <a:solidFill>
                  <a:srgbClr val="2A2B2F"/>
                </a:solidFill>
                <a:latin typeface="Times New Roman"/>
                <a:cs typeface="Times New Roman"/>
              </a:rPr>
              <a:t>MySQL,</a:t>
            </a:r>
            <a:r>
              <a:rPr dirty="0" sz="2800" spc="4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Oracle</a:t>
            </a:r>
            <a:r>
              <a:rPr dirty="0" sz="2800" spc="3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14">
                <a:solidFill>
                  <a:srgbClr val="2A2B2F"/>
                </a:solidFill>
                <a:latin typeface="Times New Roman"/>
                <a:cs typeface="Times New Roman"/>
              </a:rPr>
              <a:t>Forms,</a:t>
            </a:r>
            <a:r>
              <a:rPr dirty="0" sz="2800" spc="4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2A2B2F"/>
                </a:solidFill>
                <a:latin typeface="Times New Roman"/>
                <a:cs typeface="Times New Roman"/>
              </a:rPr>
              <a:t>plugin</a:t>
            </a:r>
            <a:r>
              <a:rPr dirty="0" sz="2800" spc="4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70">
                <a:solidFill>
                  <a:srgbClr val="2A2B2F"/>
                </a:solidFill>
                <a:latin typeface="Times New Roman"/>
                <a:cs typeface="Times New Roman"/>
              </a:rPr>
              <a:t>architecture,</a:t>
            </a:r>
            <a:r>
              <a:rPr dirty="0" sz="2800" spc="3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140">
                <a:solidFill>
                  <a:srgbClr val="2A2B2F"/>
                </a:solidFill>
                <a:latin typeface="Times New Roman"/>
                <a:cs typeface="Times New Roman"/>
              </a:rPr>
              <a:t>and</a:t>
            </a:r>
            <a:r>
              <a:rPr dirty="0" sz="2800" spc="4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A2B2F"/>
                </a:solidFill>
                <a:latin typeface="Times New Roman"/>
                <a:cs typeface="Times New Roman"/>
              </a:rPr>
              <a:t>client</a:t>
            </a:r>
            <a:r>
              <a:rPr dirty="0" sz="2800" spc="4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800" spc="80">
                <a:solidFill>
                  <a:srgbClr val="2A2B2F"/>
                </a:solidFill>
                <a:latin typeface="Times New Roman"/>
                <a:cs typeface="Times New Roman"/>
              </a:rPr>
              <a:t>collaboration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30"/>
              <a:t>PROJECT</a:t>
            </a:r>
            <a:r>
              <a:rPr dirty="0" spc="-340"/>
              <a:t> </a:t>
            </a:r>
            <a:r>
              <a:rPr dirty="0" spc="220"/>
              <a:t>VIDEO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1028694" y="1760761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2972637" y="8545052"/>
            <a:ext cx="11062335" cy="1111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64260" marR="5080" indent="-1052195">
              <a:lnSpc>
                <a:spcPct val="114900"/>
              </a:lnSpc>
              <a:spcBef>
                <a:spcPts val="100"/>
              </a:spcBef>
            </a:pPr>
            <a:r>
              <a:rPr dirty="0" u="heavy" sz="3100" spc="-19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latin typeface="Arial Black"/>
                <a:cs typeface="Arial Black"/>
                <a:hlinkClick r:id="rId2"/>
              </a:rPr>
              <a:t>HTTPS://DRIVE.GOOGLE.COM/FILE/D/1DCPTUP4QZ8A8_1</a:t>
            </a:r>
            <a:r>
              <a:rPr dirty="0" sz="3100" spc="-190">
                <a:solidFill>
                  <a:srgbClr val="37B5FF"/>
                </a:solidFill>
                <a:latin typeface="Arial Black"/>
                <a:cs typeface="Arial Black"/>
              </a:rPr>
              <a:t> </a:t>
            </a:r>
            <a:r>
              <a:rPr dirty="0" u="heavy" sz="3100" spc="-34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latin typeface="Arial Black"/>
                <a:cs typeface="Arial Black"/>
                <a:hlinkClick r:id="rId2"/>
              </a:rPr>
              <a:t>V0RYFAST_1-</a:t>
            </a:r>
            <a:r>
              <a:rPr dirty="0" u="heavy" sz="3100" spc="-28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latin typeface="Arial Black"/>
                <a:cs typeface="Arial Black"/>
                <a:hlinkClick r:id="rId2"/>
              </a:rPr>
              <a:t>XRRXZFG/VIEW?USP=DRIVE_LINK</a:t>
            </a:r>
            <a:endParaRPr sz="3100">
              <a:latin typeface="Arial Black"/>
              <a:cs typeface="Arial Black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31939" y="2054360"/>
            <a:ext cx="10983608" cy="6181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8694" y="1760761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80"/>
              <a:t>FEEDBACK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821" y="3462607"/>
            <a:ext cx="76200" cy="761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821" y="4024582"/>
            <a:ext cx="76200" cy="7619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821" y="4586557"/>
            <a:ext cx="76200" cy="7619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821" y="6272482"/>
            <a:ext cx="76200" cy="7619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821" y="6834457"/>
            <a:ext cx="76200" cy="7619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821" y="7396432"/>
            <a:ext cx="76200" cy="76199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994171" y="2508837"/>
            <a:ext cx="16175355" cy="5083175"/>
          </a:xfrm>
          <a:prstGeom prst="rect">
            <a:avLst/>
          </a:prstGeom>
        </p:spPr>
        <p:txBody>
          <a:bodyPr wrap="square" lIns="0" tIns="1631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dirty="0" sz="2700" spc="-20" b="1">
                <a:solidFill>
                  <a:srgbClr val="2A2B2F"/>
                </a:solidFill>
                <a:latin typeface="Times New Roman"/>
                <a:cs typeface="Times New Roman"/>
              </a:rPr>
              <a:t>Project</a:t>
            </a:r>
            <a:r>
              <a:rPr dirty="0" sz="2700" spc="-120" b="1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-25" b="1">
                <a:solidFill>
                  <a:srgbClr val="2A2B2F"/>
                </a:solidFill>
                <a:latin typeface="Times New Roman"/>
                <a:cs typeface="Times New Roman"/>
              </a:rPr>
              <a:t>Semester</a:t>
            </a:r>
            <a:r>
              <a:rPr dirty="0" sz="2700" spc="-120" b="1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-10" b="1">
                <a:solidFill>
                  <a:srgbClr val="2A2B2F"/>
                </a:solidFill>
                <a:latin typeface="Times New Roman"/>
                <a:cs typeface="Times New Roman"/>
              </a:rPr>
              <a:t>Experience</a:t>
            </a:r>
            <a:endParaRPr sz="2700">
              <a:latin typeface="Times New Roman"/>
              <a:cs typeface="Times New Roman"/>
            </a:endParaRPr>
          </a:p>
          <a:p>
            <a:pPr marL="594995">
              <a:lnSpc>
                <a:spcPct val="100000"/>
              </a:lnSpc>
              <a:spcBef>
                <a:spcPts val="1185"/>
              </a:spcBef>
            </a:pPr>
            <a:r>
              <a:rPr dirty="0" sz="2700" spc="85">
                <a:solidFill>
                  <a:srgbClr val="2A2B2F"/>
                </a:solidFill>
                <a:latin typeface="Times New Roman"/>
                <a:cs typeface="Times New Roman"/>
              </a:rPr>
              <a:t>The</a:t>
            </a:r>
            <a:r>
              <a:rPr dirty="0" sz="2700" spc="1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70">
                <a:solidFill>
                  <a:srgbClr val="2A2B2F"/>
                </a:solidFill>
                <a:latin typeface="Times New Roman"/>
                <a:cs typeface="Times New Roman"/>
              </a:rPr>
              <a:t>internship</a:t>
            </a:r>
            <a:r>
              <a:rPr dirty="0" sz="2700" spc="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45">
                <a:solidFill>
                  <a:srgbClr val="2A2B2F"/>
                </a:solidFill>
                <a:latin typeface="Times New Roman"/>
                <a:cs typeface="Times New Roman"/>
              </a:rPr>
              <a:t>allowed</a:t>
            </a:r>
            <a:r>
              <a:rPr dirty="0" sz="2700" spc="1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2A2B2F"/>
                </a:solidFill>
                <a:latin typeface="Times New Roman"/>
                <a:cs typeface="Times New Roman"/>
              </a:rPr>
              <a:t>me</a:t>
            </a:r>
            <a:r>
              <a:rPr dirty="0" sz="2700" spc="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135">
                <a:solidFill>
                  <a:srgbClr val="2A2B2F"/>
                </a:solidFill>
                <a:latin typeface="Times New Roman"/>
                <a:cs typeface="Times New Roman"/>
              </a:rPr>
              <a:t>to</a:t>
            </a:r>
            <a:r>
              <a:rPr dirty="0" sz="2700" spc="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75">
                <a:solidFill>
                  <a:srgbClr val="2A2B2F"/>
                </a:solidFill>
                <a:latin typeface="Times New Roman"/>
                <a:cs typeface="Times New Roman"/>
              </a:rPr>
              <a:t>apply</a:t>
            </a:r>
            <a:r>
              <a:rPr dirty="0" sz="2700" spc="1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50">
                <a:solidFill>
                  <a:srgbClr val="2A2B2F"/>
                </a:solidFill>
                <a:latin typeface="Times New Roman"/>
                <a:cs typeface="Times New Roman"/>
              </a:rPr>
              <a:t>my</a:t>
            </a:r>
            <a:r>
              <a:rPr dirty="0" sz="2700" spc="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45">
                <a:solidFill>
                  <a:srgbClr val="2A2B2F"/>
                </a:solidFill>
                <a:latin typeface="Times New Roman"/>
                <a:cs typeface="Times New Roman"/>
              </a:rPr>
              <a:t>technical</a:t>
            </a:r>
            <a:r>
              <a:rPr dirty="0" sz="2700" spc="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45">
                <a:solidFill>
                  <a:srgbClr val="2A2B2F"/>
                </a:solidFill>
                <a:latin typeface="Times New Roman"/>
                <a:cs typeface="Times New Roman"/>
              </a:rPr>
              <a:t>knowledge</a:t>
            </a:r>
            <a:r>
              <a:rPr dirty="0" sz="2700" spc="1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55">
                <a:solidFill>
                  <a:srgbClr val="2A2B2F"/>
                </a:solidFill>
                <a:latin typeface="Times New Roman"/>
                <a:cs typeface="Times New Roman"/>
              </a:rPr>
              <a:t>in</a:t>
            </a:r>
            <a:r>
              <a:rPr dirty="0" sz="2700" spc="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140">
                <a:solidFill>
                  <a:srgbClr val="2A2B2F"/>
                </a:solidFill>
                <a:latin typeface="Times New Roman"/>
                <a:cs typeface="Times New Roman"/>
              </a:rPr>
              <a:t>a</a:t>
            </a:r>
            <a:r>
              <a:rPr dirty="0" sz="2700" spc="1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65">
                <a:solidFill>
                  <a:srgbClr val="2A2B2F"/>
                </a:solidFill>
                <a:latin typeface="Times New Roman"/>
                <a:cs typeface="Times New Roman"/>
              </a:rPr>
              <a:t>practical,</a:t>
            </a:r>
            <a:r>
              <a:rPr dirty="0" sz="2700" spc="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50">
                <a:solidFill>
                  <a:srgbClr val="2A2B2F"/>
                </a:solidFill>
                <a:latin typeface="Times New Roman"/>
                <a:cs typeface="Times New Roman"/>
              </a:rPr>
              <a:t>enterprise-</a:t>
            </a:r>
            <a:r>
              <a:rPr dirty="0" sz="2700">
                <a:solidFill>
                  <a:srgbClr val="2A2B2F"/>
                </a:solidFill>
                <a:latin typeface="Times New Roman"/>
                <a:cs typeface="Times New Roman"/>
              </a:rPr>
              <a:t>level</a:t>
            </a:r>
            <a:r>
              <a:rPr dirty="0" sz="2700" spc="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65">
                <a:solidFill>
                  <a:srgbClr val="2A2B2F"/>
                </a:solidFill>
                <a:latin typeface="Times New Roman"/>
                <a:cs typeface="Times New Roman"/>
              </a:rPr>
              <a:t>environment.</a:t>
            </a:r>
            <a:endParaRPr sz="2700">
              <a:latin typeface="Times New Roman"/>
              <a:cs typeface="Times New Roman"/>
            </a:endParaRPr>
          </a:p>
          <a:p>
            <a:pPr marL="594995" marR="5080">
              <a:lnSpc>
                <a:spcPct val="136600"/>
              </a:lnSpc>
            </a:pPr>
            <a:r>
              <a:rPr dirty="0" sz="2700" spc="135">
                <a:solidFill>
                  <a:srgbClr val="2A2B2F"/>
                </a:solidFill>
                <a:latin typeface="Times New Roman"/>
                <a:cs typeface="Times New Roman"/>
              </a:rPr>
              <a:t>I</a:t>
            </a:r>
            <a:r>
              <a:rPr dirty="0" sz="2700" spc="4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55">
                <a:solidFill>
                  <a:srgbClr val="2A2B2F"/>
                </a:solidFill>
                <a:latin typeface="Times New Roman"/>
                <a:cs typeface="Times New Roman"/>
              </a:rPr>
              <a:t>gained</a:t>
            </a:r>
            <a:r>
              <a:rPr dirty="0" sz="2700" spc="4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85">
                <a:solidFill>
                  <a:srgbClr val="2A2B2F"/>
                </a:solidFill>
                <a:latin typeface="Times New Roman"/>
                <a:cs typeface="Times New Roman"/>
              </a:rPr>
              <a:t>hands-</a:t>
            </a:r>
            <a:r>
              <a:rPr dirty="0" sz="2700" spc="135">
                <a:solidFill>
                  <a:srgbClr val="2A2B2F"/>
                </a:solidFill>
                <a:latin typeface="Times New Roman"/>
                <a:cs typeface="Times New Roman"/>
              </a:rPr>
              <a:t>on</a:t>
            </a:r>
            <a:r>
              <a:rPr dirty="0" sz="2700" spc="5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2A2B2F"/>
                </a:solidFill>
                <a:latin typeface="Times New Roman"/>
                <a:cs typeface="Times New Roman"/>
              </a:rPr>
              <a:t>experience</a:t>
            </a:r>
            <a:r>
              <a:rPr dirty="0" sz="2700" spc="4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55">
                <a:solidFill>
                  <a:srgbClr val="2A2B2F"/>
                </a:solidFill>
                <a:latin typeface="Times New Roman"/>
                <a:cs typeface="Times New Roman"/>
              </a:rPr>
              <a:t>with</a:t>
            </a:r>
            <a:r>
              <a:rPr dirty="0" sz="2700" spc="5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90">
                <a:solidFill>
                  <a:srgbClr val="2A2B2F"/>
                </a:solidFill>
                <a:latin typeface="Times New Roman"/>
                <a:cs typeface="Times New Roman"/>
              </a:rPr>
              <a:t>bug</a:t>
            </a:r>
            <a:r>
              <a:rPr dirty="0" sz="2700" spc="4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80">
                <a:solidFill>
                  <a:srgbClr val="2A2B2F"/>
                </a:solidFill>
                <a:latin typeface="Times New Roman"/>
                <a:cs typeface="Times New Roman"/>
              </a:rPr>
              <a:t>tracking</a:t>
            </a:r>
            <a:r>
              <a:rPr dirty="0" sz="2700" spc="5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2A2B2F"/>
                </a:solidFill>
                <a:latin typeface="Times New Roman"/>
                <a:cs typeface="Times New Roman"/>
              </a:rPr>
              <a:t>systems,</a:t>
            </a:r>
            <a:r>
              <a:rPr dirty="0" sz="2700" spc="4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60">
                <a:solidFill>
                  <a:srgbClr val="2A2B2F"/>
                </a:solidFill>
                <a:latin typeface="Times New Roman"/>
                <a:cs typeface="Times New Roman"/>
              </a:rPr>
              <a:t>plugin</a:t>
            </a:r>
            <a:r>
              <a:rPr dirty="0" sz="2700" spc="5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60">
                <a:solidFill>
                  <a:srgbClr val="2A2B2F"/>
                </a:solidFill>
                <a:latin typeface="Times New Roman"/>
                <a:cs typeface="Times New Roman"/>
              </a:rPr>
              <a:t>development,</a:t>
            </a:r>
            <a:r>
              <a:rPr dirty="0" sz="2700" spc="4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135">
                <a:solidFill>
                  <a:srgbClr val="2A2B2F"/>
                </a:solidFill>
                <a:latin typeface="Times New Roman"/>
                <a:cs typeface="Times New Roman"/>
              </a:rPr>
              <a:t>and</a:t>
            </a:r>
            <a:r>
              <a:rPr dirty="0" sz="2700" spc="5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175">
                <a:solidFill>
                  <a:srgbClr val="2A2B2F"/>
                </a:solidFill>
                <a:latin typeface="Times New Roman"/>
                <a:cs typeface="Times New Roman"/>
              </a:rPr>
              <a:t>ERP</a:t>
            </a:r>
            <a:r>
              <a:rPr dirty="0" sz="2700" spc="4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75">
                <a:solidFill>
                  <a:srgbClr val="2A2B2F"/>
                </a:solidFill>
                <a:latin typeface="Times New Roman"/>
                <a:cs typeface="Times New Roman"/>
              </a:rPr>
              <a:t>module</a:t>
            </a:r>
            <a:r>
              <a:rPr dirty="0" sz="2700" spc="5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40">
                <a:solidFill>
                  <a:srgbClr val="2A2B2F"/>
                </a:solidFill>
                <a:latin typeface="Times New Roman"/>
                <a:cs typeface="Times New Roman"/>
              </a:rPr>
              <a:t>workflows. </a:t>
            </a:r>
            <a:r>
              <a:rPr dirty="0" sz="2700" spc="60">
                <a:solidFill>
                  <a:srgbClr val="2A2B2F"/>
                </a:solidFill>
                <a:latin typeface="Times New Roman"/>
                <a:cs typeface="Times New Roman"/>
              </a:rPr>
              <a:t>This</a:t>
            </a:r>
            <a:r>
              <a:rPr dirty="0" sz="2700" spc="4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105">
                <a:solidFill>
                  <a:srgbClr val="2A2B2F"/>
                </a:solidFill>
                <a:latin typeface="Times New Roman"/>
                <a:cs typeface="Times New Roman"/>
              </a:rPr>
              <a:t>opportunity</a:t>
            </a:r>
            <a:r>
              <a:rPr dirty="0" sz="2700" spc="4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55">
                <a:solidFill>
                  <a:srgbClr val="2A2B2F"/>
                </a:solidFill>
                <a:latin typeface="Times New Roman"/>
                <a:cs typeface="Times New Roman"/>
              </a:rPr>
              <a:t>helped</a:t>
            </a:r>
            <a:r>
              <a:rPr dirty="0" sz="2700" spc="4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2A2B2F"/>
                </a:solidFill>
                <a:latin typeface="Times New Roman"/>
                <a:cs typeface="Times New Roman"/>
              </a:rPr>
              <a:t>me</a:t>
            </a:r>
            <a:r>
              <a:rPr dirty="0" sz="2700" spc="4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55">
                <a:solidFill>
                  <a:srgbClr val="2A2B2F"/>
                </a:solidFill>
                <a:latin typeface="Times New Roman"/>
                <a:cs typeface="Times New Roman"/>
              </a:rPr>
              <a:t>grow</a:t>
            </a:r>
            <a:r>
              <a:rPr dirty="0" sz="2700" spc="4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55">
                <a:solidFill>
                  <a:srgbClr val="2A2B2F"/>
                </a:solidFill>
                <a:latin typeface="Times New Roman"/>
                <a:cs typeface="Times New Roman"/>
              </a:rPr>
              <a:t>in</a:t>
            </a:r>
            <a:r>
              <a:rPr dirty="0" sz="2700" spc="4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65">
                <a:solidFill>
                  <a:srgbClr val="2A2B2F"/>
                </a:solidFill>
                <a:latin typeface="Times New Roman"/>
                <a:cs typeface="Times New Roman"/>
              </a:rPr>
              <a:t>terms</a:t>
            </a:r>
            <a:r>
              <a:rPr dirty="0" sz="2700" spc="4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60">
                <a:solidFill>
                  <a:srgbClr val="2A2B2F"/>
                </a:solidFill>
                <a:latin typeface="Times New Roman"/>
                <a:cs typeface="Times New Roman"/>
              </a:rPr>
              <a:t>of</a:t>
            </a:r>
            <a:r>
              <a:rPr dirty="0" sz="2700" spc="4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70">
                <a:solidFill>
                  <a:srgbClr val="2A2B2F"/>
                </a:solidFill>
                <a:latin typeface="Times New Roman"/>
                <a:cs typeface="Times New Roman"/>
              </a:rPr>
              <a:t>problem-</a:t>
            </a:r>
            <a:r>
              <a:rPr dirty="0" sz="2700">
                <a:solidFill>
                  <a:srgbClr val="2A2B2F"/>
                </a:solidFill>
                <a:latin typeface="Times New Roman"/>
                <a:cs typeface="Times New Roman"/>
              </a:rPr>
              <a:t>solving,</a:t>
            </a:r>
            <a:r>
              <a:rPr dirty="0" sz="2700" spc="4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85">
                <a:solidFill>
                  <a:srgbClr val="2A2B2F"/>
                </a:solidFill>
                <a:latin typeface="Times New Roman"/>
                <a:cs typeface="Times New Roman"/>
              </a:rPr>
              <a:t>collaboration,</a:t>
            </a:r>
            <a:r>
              <a:rPr dirty="0" sz="2700" spc="4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135">
                <a:solidFill>
                  <a:srgbClr val="2A2B2F"/>
                </a:solidFill>
                <a:latin typeface="Times New Roman"/>
                <a:cs typeface="Times New Roman"/>
              </a:rPr>
              <a:t>and</a:t>
            </a:r>
            <a:r>
              <a:rPr dirty="0" sz="2700" spc="4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95">
                <a:solidFill>
                  <a:srgbClr val="2A2B2F"/>
                </a:solidFill>
                <a:latin typeface="Times New Roman"/>
                <a:cs typeface="Times New Roman"/>
              </a:rPr>
              <a:t>tool</a:t>
            </a:r>
            <a:r>
              <a:rPr dirty="0" sz="2700" spc="4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-10">
                <a:solidFill>
                  <a:srgbClr val="2A2B2F"/>
                </a:solidFill>
                <a:latin typeface="Times New Roman"/>
                <a:cs typeface="Times New Roman"/>
              </a:rPr>
              <a:t>expertise.</a:t>
            </a: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00"/>
              </a:spcBef>
            </a:pP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700" spc="-20" b="1">
                <a:solidFill>
                  <a:srgbClr val="2A2B2F"/>
                </a:solidFill>
                <a:latin typeface="Times New Roman"/>
                <a:cs typeface="Times New Roman"/>
              </a:rPr>
              <a:t>Faculty</a:t>
            </a:r>
            <a:r>
              <a:rPr dirty="0" sz="2700" spc="-110" b="1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-10" b="1">
                <a:solidFill>
                  <a:srgbClr val="2A2B2F"/>
                </a:solidFill>
                <a:latin typeface="Times New Roman"/>
                <a:cs typeface="Times New Roman"/>
              </a:rPr>
              <a:t>Guidance</a:t>
            </a:r>
            <a:endParaRPr sz="2700">
              <a:latin typeface="Times New Roman"/>
              <a:cs typeface="Times New Roman"/>
            </a:endParaRPr>
          </a:p>
          <a:p>
            <a:pPr marL="594995" marR="923925">
              <a:lnSpc>
                <a:spcPct val="136600"/>
              </a:lnSpc>
            </a:pPr>
            <a:r>
              <a:rPr dirty="0" sz="2700" spc="95">
                <a:solidFill>
                  <a:srgbClr val="2A2B2F"/>
                </a:solidFill>
                <a:latin typeface="Times New Roman"/>
                <a:cs typeface="Times New Roman"/>
              </a:rPr>
              <a:t>Faculty</a:t>
            </a:r>
            <a:r>
              <a:rPr dirty="0" sz="2700" spc="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75">
                <a:solidFill>
                  <a:srgbClr val="2A2B2F"/>
                </a:solidFill>
                <a:latin typeface="Times New Roman"/>
                <a:cs typeface="Times New Roman"/>
              </a:rPr>
              <a:t>provided</a:t>
            </a:r>
            <a:r>
              <a:rPr dirty="0" sz="2700" spc="2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55">
                <a:solidFill>
                  <a:srgbClr val="2A2B2F"/>
                </a:solidFill>
                <a:latin typeface="Times New Roman"/>
                <a:cs typeface="Times New Roman"/>
              </a:rPr>
              <a:t>meaningful</a:t>
            </a:r>
            <a:r>
              <a:rPr dirty="0" sz="2700" spc="2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110">
                <a:solidFill>
                  <a:srgbClr val="2A2B2F"/>
                </a:solidFill>
                <a:latin typeface="Times New Roman"/>
                <a:cs typeface="Times New Roman"/>
              </a:rPr>
              <a:t>support</a:t>
            </a:r>
            <a:r>
              <a:rPr dirty="0" sz="2700" spc="2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55">
                <a:solidFill>
                  <a:srgbClr val="2A2B2F"/>
                </a:solidFill>
                <a:latin typeface="Times New Roman"/>
                <a:cs typeface="Times New Roman"/>
              </a:rPr>
              <a:t>in</a:t>
            </a:r>
            <a:r>
              <a:rPr dirty="0" sz="2700" spc="2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65">
                <a:solidFill>
                  <a:srgbClr val="2A2B2F"/>
                </a:solidFill>
                <a:latin typeface="Times New Roman"/>
                <a:cs typeface="Times New Roman"/>
              </a:rPr>
              <a:t>terms</a:t>
            </a:r>
            <a:r>
              <a:rPr dirty="0" sz="2700" spc="1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60">
                <a:solidFill>
                  <a:srgbClr val="2A2B2F"/>
                </a:solidFill>
                <a:latin typeface="Times New Roman"/>
                <a:cs typeface="Times New Roman"/>
              </a:rPr>
              <a:t>of</a:t>
            </a:r>
            <a:r>
              <a:rPr dirty="0" sz="2700" spc="2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65">
                <a:solidFill>
                  <a:srgbClr val="2A2B2F"/>
                </a:solidFill>
                <a:latin typeface="Times New Roman"/>
                <a:cs typeface="Times New Roman"/>
              </a:rPr>
              <a:t>project</a:t>
            </a:r>
            <a:r>
              <a:rPr dirty="0" sz="2700" spc="2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60">
                <a:solidFill>
                  <a:srgbClr val="2A2B2F"/>
                </a:solidFill>
                <a:latin typeface="Times New Roman"/>
                <a:cs typeface="Times New Roman"/>
              </a:rPr>
              <a:t>expectations</a:t>
            </a:r>
            <a:r>
              <a:rPr dirty="0" sz="2700" spc="2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135">
                <a:solidFill>
                  <a:srgbClr val="2A2B2F"/>
                </a:solidFill>
                <a:latin typeface="Times New Roman"/>
                <a:cs typeface="Times New Roman"/>
              </a:rPr>
              <a:t>and</a:t>
            </a:r>
            <a:r>
              <a:rPr dirty="0" sz="2700" spc="2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95">
                <a:solidFill>
                  <a:srgbClr val="2A2B2F"/>
                </a:solidFill>
                <a:latin typeface="Times New Roman"/>
                <a:cs typeface="Times New Roman"/>
              </a:rPr>
              <a:t>documentation</a:t>
            </a:r>
            <a:r>
              <a:rPr dirty="0" sz="2700" spc="2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85">
                <a:solidFill>
                  <a:srgbClr val="2A2B2F"/>
                </a:solidFill>
                <a:latin typeface="Times New Roman"/>
                <a:cs typeface="Times New Roman"/>
              </a:rPr>
              <a:t>standards. </a:t>
            </a:r>
            <a:r>
              <a:rPr dirty="0" sz="2700" spc="70">
                <a:solidFill>
                  <a:srgbClr val="2A2B2F"/>
                </a:solidFill>
                <a:latin typeface="Times New Roman"/>
                <a:cs typeface="Times New Roman"/>
              </a:rPr>
              <a:t>Their</a:t>
            </a:r>
            <a:r>
              <a:rPr dirty="0" sz="2700" spc="5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2A2B2F"/>
                </a:solidFill>
                <a:latin typeface="Times New Roman"/>
                <a:cs typeface="Times New Roman"/>
              </a:rPr>
              <a:t>insights</a:t>
            </a:r>
            <a:r>
              <a:rPr dirty="0" sz="2700" spc="6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55">
                <a:solidFill>
                  <a:srgbClr val="2A2B2F"/>
                </a:solidFill>
                <a:latin typeface="Times New Roman"/>
                <a:cs typeface="Times New Roman"/>
              </a:rPr>
              <a:t>helped </a:t>
            </a:r>
            <a:r>
              <a:rPr dirty="0" sz="2700">
                <a:solidFill>
                  <a:srgbClr val="2A2B2F"/>
                </a:solidFill>
                <a:latin typeface="Times New Roman"/>
                <a:cs typeface="Times New Roman"/>
              </a:rPr>
              <a:t>me</a:t>
            </a:r>
            <a:r>
              <a:rPr dirty="0" sz="2700" spc="6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80">
                <a:solidFill>
                  <a:srgbClr val="2A2B2F"/>
                </a:solidFill>
                <a:latin typeface="Times New Roman"/>
                <a:cs typeface="Times New Roman"/>
              </a:rPr>
              <a:t>better</a:t>
            </a:r>
            <a:r>
              <a:rPr dirty="0" sz="2700" spc="6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85">
                <a:solidFill>
                  <a:srgbClr val="2A2B2F"/>
                </a:solidFill>
                <a:latin typeface="Times New Roman"/>
                <a:cs typeface="Times New Roman"/>
              </a:rPr>
              <a:t>structure</a:t>
            </a:r>
            <a:r>
              <a:rPr dirty="0" sz="2700" spc="5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50">
                <a:solidFill>
                  <a:srgbClr val="2A2B2F"/>
                </a:solidFill>
                <a:latin typeface="Times New Roman"/>
                <a:cs typeface="Times New Roman"/>
              </a:rPr>
              <a:t>my</a:t>
            </a:r>
            <a:r>
              <a:rPr dirty="0" sz="2700" spc="6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45">
                <a:solidFill>
                  <a:srgbClr val="2A2B2F"/>
                </a:solidFill>
                <a:latin typeface="Times New Roman"/>
                <a:cs typeface="Times New Roman"/>
              </a:rPr>
              <a:t>technical</a:t>
            </a:r>
            <a:r>
              <a:rPr dirty="0" sz="2700" spc="5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95">
                <a:solidFill>
                  <a:srgbClr val="2A2B2F"/>
                </a:solidFill>
                <a:latin typeface="Times New Roman"/>
                <a:cs typeface="Times New Roman"/>
              </a:rPr>
              <a:t>work</a:t>
            </a:r>
            <a:r>
              <a:rPr dirty="0" sz="2700" spc="6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135">
                <a:solidFill>
                  <a:srgbClr val="2A2B2F"/>
                </a:solidFill>
                <a:latin typeface="Times New Roman"/>
                <a:cs typeface="Times New Roman"/>
              </a:rPr>
              <a:t>and</a:t>
            </a:r>
            <a:r>
              <a:rPr dirty="0" sz="2700" spc="6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2A2B2F"/>
                </a:solidFill>
                <a:latin typeface="Times New Roman"/>
                <a:cs typeface="Times New Roman"/>
              </a:rPr>
              <a:t>align</a:t>
            </a:r>
            <a:r>
              <a:rPr dirty="0" sz="2700" spc="5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60">
                <a:solidFill>
                  <a:srgbClr val="2A2B2F"/>
                </a:solidFill>
                <a:latin typeface="Times New Roman"/>
                <a:cs typeface="Times New Roman"/>
              </a:rPr>
              <a:t>it </a:t>
            </a:r>
            <a:r>
              <a:rPr dirty="0" sz="2700" spc="55">
                <a:solidFill>
                  <a:srgbClr val="2A2B2F"/>
                </a:solidFill>
                <a:latin typeface="Times New Roman"/>
                <a:cs typeface="Times New Roman"/>
              </a:rPr>
              <a:t>with</a:t>
            </a:r>
            <a:r>
              <a:rPr dirty="0" sz="2700" spc="6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50">
                <a:solidFill>
                  <a:srgbClr val="2A2B2F"/>
                </a:solidFill>
                <a:latin typeface="Times New Roman"/>
                <a:cs typeface="Times New Roman"/>
              </a:rPr>
              <a:t>academic</a:t>
            </a:r>
            <a:r>
              <a:rPr dirty="0" sz="2700" spc="5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-10">
                <a:solidFill>
                  <a:srgbClr val="2A2B2F"/>
                </a:solidFill>
                <a:latin typeface="Times New Roman"/>
                <a:cs typeface="Times New Roman"/>
              </a:rPr>
              <a:t>objectives.</a:t>
            </a:r>
            <a:endParaRPr sz="2700">
              <a:latin typeface="Times New Roman"/>
              <a:cs typeface="Times New Roman"/>
            </a:endParaRPr>
          </a:p>
          <a:p>
            <a:pPr marL="594995">
              <a:lnSpc>
                <a:spcPct val="100000"/>
              </a:lnSpc>
              <a:spcBef>
                <a:spcPts val="1180"/>
              </a:spcBef>
            </a:pPr>
            <a:r>
              <a:rPr dirty="0" sz="2700" spc="135">
                <a:solidFill>
                  <a:srgbClr val="2A2B2F"/>
                </a:solidFill>
                <a:latin typeface="Times New Roman"/>
                <a:cs typeface="Times New Roman"/>
              </a:rPr>
              <a:t>I</a:t>
            </a:r>
            <a:r>
              <a:rPr dirty="0" sz="2700" spc="2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130">
                <a:solidFill>
                  <a:srgbClr val="2A2B2F"/>
                </a:solidFill>
                <a:latin typeface="Times New Roman"/>
                <a:cs typeface="Times New Roman"/>
              </a:rPr>
              <a:t>am</a:t>
            </a:r>
            <a:r>
              <a:rPr dirty="0" sz="2700" spc="2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95">
                <a:solidFill>
                  <a:srgbClr val="2A2B2F"/>
                </a:solidFill>
                <a:latin typeface="Times New Roman"/>
                <a:cs typeface="Times New Roman"/>
              </a:rPr>
              <a:t>thankful</a:t>
            </a:r>
            <a:r>
              <a:rPr dirty="0" sz="2700" spc="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85">
                <a:solidFill>
                  <a:srgbClr val="2A2B2F"/>
                </a:solidFill>
                <a:latin typeface="Times New Roman"/>
                <a:cs typeface="Times New Roman"/>
              </a:rPr>
              <a:t>for</a:t>
            </a:r>
            <a:r>
              <a:rPr dirty="0" sz="2700" spc="2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70">
                <a:solidFill>
                  <a:srgbClr val="2A2B2F"/>
                </a:solidFill>
                <a:latin typeface="Times New Roman"/>
                <a:cs typeface="Times New Roman"/>
              </a:rPr>
              <a:t>their</a:t>
            </a:r>
            <a:r>
              <a:rPr dirty="0" sz="2700" spc="2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70">
                <a:solidFill>
                  <a:srgbClr val="2A2B2F"/>
                </a:solidFill>
                <a:latin typeface="Times New Roman"/>
                <a:cs typeface="Times New Roman"/>
              </a:rPr>
              <a:t>encouragement</a:t>
            </a:r>
            <a:r>
              <a:rPr dirty="0" sz="2700" spc="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120">
                <a:solidFill>
                  <a:srgbClr val="2A2B2F"/>
                </a:solidFill>
                <a:latin typeface="Times New Roman"/>
                <a:cs typeface="Times New Roman"/>
              </a:rPr>
              <a:t>throughout</a:t>
            </a:r>
            <a:r>
              <a:rPr dirty="0" sz="2700" spc="2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80">
                <a:solidFill>
                  <a:srgbClr val="2A2B2F"/>
                </a:solidFill>
                <a:latin typeface="Times New Roman"/>
                <a:cs typeface="Times New Roman"/>
              </a:rPr>
              <a:t>the</a:t>
            </a:r>
            <a:r>
              <a:rPr dirty="0" sz="2700" spc="25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70">
                <a:solidFill>
                  <a:srgbClr val="2A2B2F"/>
                </a:solidFill>
                <a:latin typeface="Times New Roman"/>
                <a:cs typeface="Times New Roman"/>
              </a:rPr>
              <a:t>internship</a:t>
            </a:r>
            <a:r>
              <a:rPr dirty="0" sz="2700" spc="20">
                <a:solidFill>
                  <a:srgbClr val="2A2B2F"/>
                </a:solidFill>
                <a:latin typeface="Times New Roman"/>
                <a:cs typeface="Times New Roman"/>
              </a:rPr>
              <a:t> </a:t>
            </a:r>
            <a:r>
              <a:rPr dirty="0" sz="2700" spc="65">
                <a:solidFill>
                  <a:srgbClr val="2A2B2F"/>
                </a:solidFill>
                <a:latin typeface="Times New Roman"/>
                <a:cs typeface="Times New Roman"/>
              </a:rPr>
              <a:t>period.</a:t>
            </a:r>
            <a:endParaRPr sz="2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206432" y="5776366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6000" y="3133173"/>
            <a:ext cx="10758170" cy="258000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750" spc="105" b="0">
                <a:latin typeface="Georgia"/>
                <a:cs typeface="Georgia"/>
              </a:rPr>
              <a:t>Thank</a:t>
            </a:r>
            <a:r>
              <a:rPr dirty="0" sz="16750" spc="295" b="0">
                <a:latin typeface="Georgia"/>
                <a:cs typeface="Georgia"/>
              </a:rPr>
              <a:t> </a:t>
            </a:r>
            <a:r>
              <a:rPr dirty="0" sz="16750" spc="-55" b="0">
                <a:latin typeface="Georgia"/>
                <a:cs typeface="Georgia"/>
              </a:rPr>
              <a:t>you!</a:t>
            </a:r>
            <a:endParaRPr sz="167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7B5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Greno</dc:creator>
  <cp:keywords>DAGpdtI8NfM,BAE-nh9IaWU,0</cp:keywords>
  <dc:title>Copy of PowerSight</dc:title>
  <dcterms:created xsi:type="dcterms:W3CDTF">2025-07-13T14:06:34Z</dcterms:created>
  <dcterms:modified xsi:type="dcterms:W3CDTF">2025-07-13T14:06:34Z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2025-07-13T00:00:00Z</vt:filetime>
  </property>
  <property fmtid="{D5CDD505-2E9C-101B-9397-08002B2CF9AE}" pid="3" name="Creator">
    <vt:lpwstr>Canva</vt:lpwstr>
  </property>
  <property fmtid="{D5CDD505-2E9C-101B-9397-08002B2CF9AE}" pid="4" name="LastSaved">
    <vt:filetime>2025-07-13T00:00:00Z</vt:filetime>
  </property>
  <property fmtid="{D5CDD505-2E9C-101B-9397-08002B2CF9AE}" pid="5" name="Producer">
    <vt:lpwstr>Canva</vt:lpwstr>
  </property>
</Properties>
</file>